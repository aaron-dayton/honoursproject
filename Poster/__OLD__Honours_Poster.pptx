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handoutMasterIdLst>
    <p:handoutMasterId r:id="rId5"/>
  </p:handoutMasterIdLst>
  <p:sldIdLst>
    <p:sldId id="257" r:id="rId3"/>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264" userDrawn="1">
          <p15:clr>
            <a:srgbClr val="A4A3A4"/>
          </p15:clr>
        </p15:guide>
        <p15:guide id="6" pos="273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D2DE"/>
    <a:srgbClr val="F3F5FA"/>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98" autoAdjust="0"/>
    <p:restoredTop sz="81569" autoAdjust="0"/>
  </p:normalViewPr>
  <p:slideViewPr>
    <p:cSldViewPr snapToGrid="0" snapToObjects="1" showGuides="1">
      <p:cViewPr>
        <p:scale>
          <a:sx n="85" d="100"/>
          <a:sy n="85" d="100"/>
        </p:scale>
        <p:origin x="1448" y="-10016"/>
      </p:cViewPr>
      <p:guideLst>
        <p:guide orient="horz" pos="3318"/>
        <p:guide orient="horz" pos="288"/>
        <p:guide orient="horz" pos="20160"/>
        <p:guide orient="horz"/>
        <p:guide pos="264"/>
        <p:guide pos="27384"/>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2/23/26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2/23/26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r>
              <a:rPr lang="en-US" b="0" i="0">
                <a:solidFill>
                  <a:srgbClr val="222222"/>
                </a:solidFill>
                <a:effectLst/>
                <a:latin typeface="Arial" panose="020B0604020202020204" pitchFamily="34" charset="0"/>
              </a:rPr>
              <a:t>Around 1912, Einstein wrote on the theory of gravitational lensing as a logical implication from his theory of relativity in an unpublished notebook. Gravitational lensing occurs when a massive body curves spacetime such that the path of light is deflected when in proximity to the body relative to an observer. This effect is analogous to the curving effect a lens has on light, hence the name.</a:t>
            </a:r>
            <a:br>
              <a:rPr lang="en-US" b="0" i="0">
                <a:solidFill>
                  <a:srgbClr val="222222"/>
                </a:solidFill>
                <a:effectLst/>
                <a:latin typeface="Arial" panose="020B0604020202020204" pitchFamily="34" charset="0"/>
              </a:rPr>
            </a:br>
            <a:endParaRPr lang="en-US" b="0" i="0">
              <a:solidFill>
                <a:srgbClr val="222222"/>
              </a:solidFill>
              <a:effectLst/>
              <a:latin typeface="Arial" panose="020B0604020202020204" pitchFamily="34" charset="0"/>
            </a:endParaRPr>
          </a:p>
          <a:p>
            <a:pPr algn="l"/>
            <a:r>
              <a:rPr lang="en-US" b="0" i="0">
                <a:solidFill>
                  <a:srgbClr val="222222"/>
                </a:solidFill>
                <a:effectLst/>
                <a:latin typeface="Arial" panose="020B0604020202020204" pitchFamily="34" charset="0"/>
              </a:rPr>
              <a:t>Arthur Eddington proposed that the Sun’s mass could bend the light of nearby stars, based off Einstein’s the theory of general relativity. He supported this by measuring the deflected positions of stars near the sun during an eclipse in 1919. Einstein published on the theory afterwards. The first direct proof of gravitational lensing came in 1979 when a double quasar – the double image of a single quasar due to the lensing of a galaxy in its path ­­­­– was detected.</a:t>
            </a:r>
          </a:p>
          <a:p>
            <a:pPr algn="l"/>
            <a:br>
              <a:rPr lang="en-US" b="0" i="0">
                <a:solidFill>
                  <a:srgbClr val="222222"/>
                </a:solidFill>
                <a:effectLst/>
                <a:latin typeface="Arial" panose="020B0604020202020204" pitchFamily="34" charset="0"/>
              </a:rPr>
            </a:br>
            <a:endParaRPr lang="en-US" b="0" i="0">
              <a:solidFill>
                <a:srgbClr val="222222"/>
              </a:solidFill>
              <a:effectLst/>
              <a:latin typeface="Arial" panose="020B0604020202020204" pitchFamily="34" charset="0"/>
            </a:endParaRPr>
          </a:p>
          <a:p>
            <a:pPr algn="l"/>
            <a:r>
              <a:rPr lang="en-US" b="0" i="0">
                <a:solidFill>
                  <a:srgbClr val="222222"/>
                </a:solidFill>
                <a:effectLst/>
                <a:latin typeface="Arial" panose="020B0604020202020204" pitchFamily="34" charset="0"/>
              </a:rPr>
              <a:t>After this, more optical phenomena due to gravitational lensing were detected. Two of note are the Einstein cross and Einstein rings. The Einstein cross is a quasar lensed by a distant galaxy such that from Earth's perspective the quasar is seen four times. Measuring the time at which flickering occurs for each of the images allows for reliable astrological measurements. Einstein rings are when a light source is lensed by a massive body such that it appears as continuous ring around the body.</a:t>
            </a:r>
          </a:p>
          <a:p>
            <a:pPr algn="l"/>
            <a:endParaRPr lang="en-US" b="0" i="0">
              <a:solidFill>
                <a:srgbClr val="222222"/>
              </a:solidFill>
              <a:effectLst/>
              <a:latin typeface="Arial" panose="020B0604020202020204" pitchFamily="34" charset="0"/>
            </a:endParaRPr>
          </a:p>
          <a:p>
            <a:pPr algn="l"/>
            <a:r>
              <a:rPr lang="en-US" b="0" i="0">
                <a:solidFill>
                  <a:srgbClr val="222222"/>
                </a:solidFill>
                <a:effectLst/>
                <a:latin typeface="Arial" panose="020B0604020202020204" pitchFamily="34" charset="0"/>
              </a:rPr>
              <a:t>Talk on gravitational microlensing as well.</a:t>
            </a:r>
            <a:br>
              <a:rPr lang="en-US" b="0" i="0">
                <a:solidFill>
                  <a:srgbClr val="222222"/>
                </a:solidFill>
                <a:effectLst/>
                <a:latin typeface="Arial" panose="020B0604020202020204" pitchFamily="34" charset="0"/>
              </a:rPr>
            </a:br>
            <a:endParaRPr lang="en-US" b="0" i="0">
              <a:solidFill>
                <a:srgbClr val="222222"/>
              </a:solidFill>
              <a:effectLst/>
              <a:latin typeface="Arial" panose="020B0604020202020204" pitchFamily="34" charset="0"/>
            </a:endParaRPr>
          </a:p>
          <a:p>
            <a:pPr algn="l"/>
            <a:r>
              <a:rPr lang="en-US" b="0" i="0">
                <a:solidFill>
                  <a:srgbClr val="222222"/>
                </a:solidFill>
                <a:effectLst/>
                <a:latin typeface="Arial" panose="020B0604020202020204" pitchFamily="34" charset="0"/>
              </a:rPr>
              <a:t>In my poster I will describe the phenomenon of gravitational lensing and how it affects lights path, the history of gravitational lensing, and phenomena caused by gravitational lensing.</a:t>
            </a:r>
          </a:p>
          <a:p>
            <a:endParaRPr lang="en-CA"/>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a:p>
        </p:txBody>
      </p:sp>
    </p:spTree>
    <p:extLst>
      <p:ext uri="{BB962C8B-B14F-4D97-AF65-F5344CB8AC3E}">
        <p14:creationId xmlns:p14="http://schemas.microsoft.com/office/powerpoint/2010/main" val="14190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438864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567305" y="32390910"/>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a:solidFill>
                  <a:schemeClr val="bg1">
                    <a:lumMod val="75000"/>
                  </a:schemeClr>
                </a:solidFill>
                <a:latin typeface="Arial" charset="0"/>
              </a:rPr>
              <a:t>www.PosterPresentations.com</a:t>
            </a:r>
          </a:p>
        </p:txBody>
      </p:sp>
      <p:graphicFrame>
        <p:nvGraphicFramePr>
          <p:cNvPr id="3" name="Table 2">
            <a:extLst>
              <a:ext uri="{FF2B5EF4-FFF2-40B4-BE49-F238E27FC236}">
                <a16:creationId xmlns:a16="http://schemas.microsoft.com/office/drawing/2014/main" id="{AF9AA5EE-77AD-9645-B396-F73887C4B6FD}"/>
              </a:ext>
            </a:extLst>
          </p:cNvPr>
          <p:cNvGraphicFramePr>
            <a:graphicFrameLocks noGrp="1"/>
          </p:cNvGraphicFramePr>
          <p:nvPr userDrawn="1">
            <p:extLst>
              <p:ext uri="{D42A27DB-BD31-4B8C-83A1-F6EECF244321}">
                <p14:modId xmlns:p14="http://schemas.microsoft.com/office/powerpoint/2010/main" val="846862511"/>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a:solidFill>
                            <a:srgbClr val="1F3A4E"/>
                          </a:solidFill>
                          <a:latin typeface="Arial Black" panose="020B0A04020102020204" pitchFamily="34" charset="0"/>
                        </a:rPr>
                        <a:t>QUICK START GUIDE</a:t>
                      </a:r>
                      <a:br>
                        <a:rPr lang="en-US" sz="3600" b="0" spc="600">
                          <a:solidFill>
                            <a:srgbClr val="1F3A4E"/>
                          </a:solidFill>
                          <a:latin typeface="Arial Black" panose="020B0A04020102020204" pitchFamily="34" charset="0"/>
                        </a:rPr>
                      </a:br>
                      <a:r>
                        <a:rPr lang="en-US" sz="2800" b="1" spc="0">
                          <a:solidFill>
                            <a:srgbClr val="FF0000"/>
                          </a:solidFill>
                          <a:latin typeface="Trebuchet MS" pitchFamily="34" charset="0"/>
                        </a:rPr>
                        <a:t>(THIS SIDEBAR WILL NOT PRINT)</a:t>
                      </a:r>
                      <a:endParaRPr lang="en-US" sz="3600" b="1" spc="60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a:solidFill>
                            <a:srgbClr val="D9D9D9"/>
                          </a:solidFill>
                          <a:latin typeface="Arial"/>
                          <a:cs typeface="Arial"/>
                        </a:rPr>
                        <a:t>This PowerPoint template produces a </a:t>
                      </a:r>
                      <a:r>
                        <a:rPr lang="en-US" sz="2000" i="0">
                          <a:solidFill>
                            <a:srgbClr val="FFC000"/>
                          </a:solidFill>
                          <a:latin typeface="Arial"/>
                          <a:cs typeface="Arial"/>
                        </a:rPr>
                        <a:t>36"x48" </a:t>
                      </a:r>
                      <a:r>
                        <a:rPr lang="en-US" sz="2000" i="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a:solidFill>
                          <a:srgbClr val="D9D9D9"/>
                        </a:solidFill>
                        <a:latin typeface="Arial"/>
                        <a:cs typeface="Arial"/>
                      </a:endParaRPr>
                    </a:p>
                    <a:p>
                      <a:pPr defTabSz="3765639"/>
                      <a:r>
                        <a:rPr lang="en-US" sz="2000" i="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err="1">
                          <a:solidFill>
                            <a:srgbClr val="FFC000"/>
                          </a:solidFill>
                          <a:latin typeface="Arial"/>
                          <a:cs typeface="Arial"/>
                        </a:rPr>
                        <a:t>PosterPresentations.com</a:t>
                      </a:r>
                      <a:r>
                        <a:rPr lang="en-US" sz="2000" i="0">
                          <a:solidFill>
                            <a:srgbClr val="D9D9D9"/>
                          </a:solidFill>
                          <a:latin typeface="Arial"/>
                          <a:cs typeface="Arial"/>
                        </a:rPr>
                        <a:t> and click on the  </a:t>
                      </a:r>
                      <a:r>
                        <a:rPr lang="en-US" sz="2000" i="0">
                          <a:solidFill>
                            <a:srgbClr val="FFC000"/>
                          </a:solidFill>
                          <a:latin typeface="Arial"/>
                          <a:cs typeface="Arial"/>
                        </a:rPr>
                        <a:t>HELP DESK</a:t>
                      </a:r>
                      <a:r>
                        <a:rPr lang="en-US" sz="2000" i="0" baseline="0">
                          <a:solidFill>
                            <a:srgbClr val="D9D9D9"/>
                          </a:solidFill>
                          <a:latin typeface="Arial"/>
                          <a:cs typeface="Arial"/>
                        </a:rPr>
                        <a:t> </a:t>
                      </a:r>
                      <a:r>
                        <a:rPr lang="en-US" sz="2000" i="0">
                          <a:solidFill>
                            <a:srgbClr val="D9D9D9"/>
                          </a:solidFill>
                          <a:latin typeface="Arial"/>
                          <a:cs typeface="Arial"/>
                        </a:rPr>
                        <a:t>tab.</a:t>
                      </a:r>
                    </a:p>
                    <a:p>
                      <a:pPr defTabSz="3765639"/>
                      <a:endParaRPr lang="en-US" sz="2000" i="0">
                        <a:solidFill>
                          <a:srgbClr val="D9D9D9"/>
                        </a:solidFill>
                        <a:latin typeface="Arial"/>
                        <a:cs typeface="Arial"/>
                      </a:endParaRPr>
                    </a:p>
                    <a:p>
                      <a:pPr defTabSz="3765639"/>
                      <a:r>
                        <a:rPr lang="en-US" sz="2000" i="0">
                          <a:solidFill>
                            <a:srgbClr val="D9D9D9"/>
                          </a:solidFill>
                          <a:latin typeface="Arial"/>
                          <a:cs typeface="Arial"/>
                        </a:rPr>
                        <a:t>To print your poster using our same-day professional printing service, go online to </a:t>
                      </a:r>
                      <a:r>
                        <a:rPr lang="en-US" sz="2000" i="0" err="1">
                          <a:solidFill>
                            <a:srgbClr val="FFC000"/>
                          </a:solidFill>
                          <a:latin typeface="Arial"/>
                          <a:cs typeface="Arial"/>
                        </a:rPr>
                        <a:t>PosterPresentations.com</a:t>
                      </a:r>
                      <a:r>
                        <a:rPr lang="en-US" sz="2000" i="0">
                          <a:solidFill>
                            <a:srgbClr val="D9D9D9"/>
                          </a:solidFill>
                          <a:latin typeface="Arial"/>
                          <a:cs typeface="Arial"/>
                        </a:rPr>
                        <a:t> and click on "</a:t>
                      </a:r>
                      <a:r>
                        <a:rPr lang="en-US" sz="2000" i="0">
                          <a:solidFill>
                            <a:srgbClr val="FFC000"/>
                          </a:solidFill>
                          <a:latin typeface="Arial"/>
                          <a:cs typeface="Arial"/>
                        </a:rPr>
                        <a:t>Order your poster</a:t>
                      </a:r>
                      <a:r>
                        <a:rPr lang="en-US" sz="2000" i="0">
                          <a:solidFill>
                            <a:srgbClr val="D9D9D9"/>
                          </a:solidFill>
                          <a:latin typeface="Arial"/>
                          <a:cs typeface="Arial"/>
                        </a:rPr>
                        <a:t>".</a:t>
                      </a:r>
                      <a:endParaRPr lang="en-US" sz="2000" b="1">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a:solidFill>
                          <a:srgbClr val="1F3A4E"/>
                        </a:solidFill>
                      </a:endParaRPr>
                    </a:p>
                    <a:p>
                      <a:pPr algn="ctr"/>
                      <a:endParaRPr lang="en-US" sz="2000">
                        <a:solidFill>
                          <a:srgbClr val="1F3A4E"/>
                        </a:solidFill>
                      </a:endParaRPr>
                    </a:p>
                    <a:p>
                      <a:pPr algn="ctr"/>
                      <a:r>
                        <a:rPr lang="en-US" sz="2000">
                          <a:solidFill>
                            <a:schemeClr val="bg1"/>
                          </a:solidFill>
                          <a:latin typeface="Arial" panose="020B0604020202020204" pitchFamily="34" charset="0"/>
                          <a:cs typeface="Arial" panose="020B0604020202020204" pitchFamily="34" charset="0"/>
                        </a:rPr>
                        <a:t>This is a template for a </a:t>
                      </a:r>
                    </a:p>
                    <a:p>
                      <a:pPr algn="ctr"/>
                      <a:r>
                        <a:rPr lang="en-US" sz="2000">
                          <a:solidFill>
                            <a:schemeClr val="bg1"/>
                          </a:solidFill>
                          <a:latin typeface="Arial" panose="020B0604020202020204" pitchFamily="34" charset="0"/>
                          <a:cs typeface="Arial" panose="020B0604020202020204" pitchFamily="34" charset="0"/>
                        </a:rPr>
                        <a:t>presentation poster</a:t>
                      </a:r>
                      <a:br>
                        <a:rPr lang="en-US" sz="2000">
                          <a:solidFill>
                            <a:schemeClr val="bg1"/>
                          </a:solidFill>
                          <a:latin typeface="Arial" panose="020B0604020202020204" pitchFamily="34" charset="0"/>
                          <a:cs typeface="Arial" panose="020B0604020202020204" pitchFamily="34" charset="0"/>
                        </a:rPr>
                      </a:br>
                      <a:r>
                        <a:rPr lang="en-US" sz="3600" b="1">
                          <a:solidFill>
                            <a:srgbClr val="FFC000"/>
                          </a:solidFill>
                          <a:latin typeface="Arial" panose="020B0604020202020204" pitchFamily="34" charset="0"/>
                          <a:cs typeface="Arial" panose="020B0604020202020204" pitchFamily="34" charset="0"/>
                        </a:rPr>
                        <a:t>36 inches tall</a:t>
                      </a:r>
                      <a:br>
                        <a:rPr lang="en-US" sz="3600" b="1">
                          <a:solidFill>
                            <a:srgbClr val="FFC000"/>
                          </a:solidFill>
                          <a:latin typeface="Arial" panose="020B0604020202020204" pitchFamily="34" charset="0"/>
                          <a:cs typeface="Arial" panose="020B0604020202020204" pitchFamily="34" charset="0"/>
                        </a:rPr>
                      </a:br>
                      <a:r>
                        <a:rPr lang="en-US" sz="3600" b="1">
                          <a:solidFill>
                            <a:srgbClr val="FFC000"/>
                          </a:solidFill>
                          <a:latin typeface="Arial" panose="020B0604020202020204" pitchFamily="34" charset="0"/>
                          <a:cs typeface="Arial" panose="020B0604020202020204" pitchFamily="34" charset="0"/>
                        </a:rPr>
                        <a:t>by</a:t>
                      </a:r>
                      <a:br>
                        <a:rPr lang="en-US" sz="3600" b="1">
                          <a:solidFill>
                            <a:srgbClr val="FFC000"/>
                          </a:solidFill>
                          <a:latin typeface="Arial" panose="020B0604020202020204" pitchFamily="34" charset="0"/>
                          <a:cs typeface="Arial" panose="020B0604020202020204" pitchFamily="34" charset="0"/>
                        </a:rPr>
                      </a:br>
                      <a:r>
                        <a:rPr lang="en-US" sz="3600" b="1">
                          <a:solidFill>
                            <a:srgbClr val="FFC000"/>
                          </a:solidFill>
                          <a:latin typeface="Arial" panose="020B0604020202020204" pitchFamily="34" charset="0"/>
                          <a:cs typeface="Arial" panose="020B0604020202020204" pitchFamily="34" charset="0"/>
                        </a:rPr>
                        <a:t>48 inches wide</a:t>
                      </a:r>
                      <a:br>
                        <a:rPr lang="en-US" sz="2000">
                          <a:solidFill>
                            <a:schemeClr val="bg1"/>
                          </a:solidFill>
                          <a:latin typeface="Arial" panose="020B0604020202020204" pitchFamily="34" charset="0"/>
                          <a:cs typeface="Arial" panose="020B0604020202020204" pitchFamily="34" charset="0"/>
                        </a:rPr>
                      </a:br>
                      <a:endParaRPr lang="en-US" sz="200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a:solidFill>
                            <a:srgbClr val="FFC000"/>
                          </a:solidFill>
                          <a:latin typeface="Arial" panose="020B0604020202020204" pitchFamily="34" charset="0"/>
                          <a:cs typeface="Arial" panose="020B0604020202020204" pitchFamily="34" charset="0"/>
                        </a:rPr>
                        <a:t>Important: Check the template size</a:t>
                      </a:r>
                      <a:br>
                        <a:rPr lang="en-US" sz="2000" b="0" baseline="0">
                          <a:solidFill>
                            <a:srgbClr val="FFC000"/>
                          </a:solidFill>
                          <a:latin typeface="Arial" panose="020B0604020202020204" pitchFamily="34" charset="0"/>
                          <a:cs typeface="Arial" panose="020B0604020202020204" pitchFamily="34" charset="0"/>
                        </a:rPr>
                      </a:br>
                      <a:r>
                        <a:rPr lang="en-US" sz="2000" b="0" baseline="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a:solidFill>
                            <a:srgbClr val="D9D9D9"/>
                          </a:solidFill>
                          <a:latin typeface="Arial" panose="020B0604020202020204" pitchFamily="34" charset="0"/>
                          <a:cs typeface="Arial" panose="020B0604020202020204" pitchFamily="34" charset="0"/>
                        </a:rPr>
                      </a:br>
                      <a:r>
                        <a:rPr lang="en-US" sz="2000" b="0" baseline="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a:solidFill>
                            <a:srgbClr val="D9D9D9"/>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30 tall x 40 wide</a:t>
                      </a:r>
                      <a:br>
                        <a:rPr lang="en-US" sz="2000" b="0" baseline="0">
                          <a:solidFill>
                            <a:srgbClr val="FFC000"/>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42 tall x 56 wide</a:t>
                      </a:r>
                      <a:br>
                        <a:rPr lang="en-US" sz="2000" b="0" baseline="0">
                          <a:solidFill>
                            <a:srgbClr val="FFC000"/>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a:solidFill>
                          <a:srgbClr val="1F3A4E"/>
                        </a:solidFill>
                      </a:endParaRPr>
                    </a:p>
                  </a:txBody>
                  <a:tcPr>
                    <a:blipFill rotWithShape="1">
                      <a:blip r:embed="rId3"/>
                      <a:stretch>
                        <a:fillRect/>
                      </a:stretch>
                    </a:blipFill>
                  </a:tcPr>
                </a:tc>
                <a:tc>
                  <a:txBody>
                    <a:bodyPr/>
                    <a:lstStyle/>
                    <a:p>
                      <a:pPr algn="l"/>
                      <a:r>
                        <a:rPr lang="en-US" sz="2400" b="1" baseline="0">
                          <a:solidFill>
                            <a:srgbClr val="FFC000"/>
                          </a:solidFill>
                          <a:latin typeface="Arial" panose="020B0604020202020204" pitchFamily="34" charset="0"/>
                          <a:cs typeface="Arial" panose="020B0604020202020204" pitchFamily="34" charset="0"/>
                        </a:rPr>
                        <a:t>How to </a:t>
                      </a:r>
                      <a:r>
                        <a:rPr lang="en-US" sz="4000" b="1" baseline="0">
                          <a:solidFill>
                            <a:srgbClr val="FFC000"/>
                          </a:solidFill>
                          <a:latin typeface="Arial" panose="020B0604020202020204" pitchFamily="34" charset="0"/>
                          <a:cs typeface="Arial" panose="020B0604020202020204" pitchFamily="34" charset="0"/>
                        </a:rPr>
                        <a:t>Zoom in </a:t>
                      </a:r>
                      <a:r>
                        <a:rPr lang="en-US" sz="2400" b="1" baseline="0">
                          <a:solidFill>
                            <a:srgbClr val="FFC000"/>
                          </a:solidFill>
                          <a:latin typeface="Arial" panose="020B0604020202020204" pitchFamily="34" charset="0"/>
                          <a:cs typeface="Arial" panose="020B0604020202020204" pitchFamily="34" charset="0"/>
                        </a:rPr>
                        <a:t>and </a:t>
                      </a:r>
                      <a:r>
                        <a:rPr lang="en-US" sz="1800" b="1" baseline="0">
                          <a:solidFill>
                            <a:srgbClr val="FFC000"/>
                          </a:solidFill>
                          <a:latin typeface="Arial" panose="020B0604020202020204" pitchFamily="34" charset="0"/>
                          <a:cs typeface="Arial" panose="020B0604020202020204" pitchFamily="34" charset="0"/>
                        </a:rPr>
                        <a:t>out</a:t>
                      </a:r>
                      <a:endParaRPr lang="en-US" sz="2400" b="1" baseline="0">
                        <a:solidFill>
                          <a:srgbClr val="FFC000"/>
                        </a:solidFill>
                        <a:latin typeface="Arial" panose="020B0604020202020204" pitchFamily="34" charset="0"/>
                        <a:cs typeface="Arial" panose="020B0604020202020204" pitchFamily="34" charset="0"/>
                      </a:endParaRPr>
                    </a:p>
                    <a:p>
                      <a:pPr algn="l"/>
                      <a:r>
                        <a:rPr lang="en-US" sz="2000" b="0" baseline="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a:solidFill>
                            <a:srgbClr val="D9D9D9"/>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1. </a:t>
                      </a:r>
                      <a:r>
                        <a:rPr lang="en-US" sz="2000" b="0" baseline="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a:solidFill>
                            <a:srgbClr val="D9D9D9"/>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2. </a:t>
                      </a:r>
                      <a:r>
                        <a:rPr lang="en-US" sz="2000" b="0" baseline="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a:solidFill>
                            <a:srgbClr val="FFC000"/>
                          </a:solidFill>
                          <a:latin typeface="Arial" panose="020B0604020202020204" pitchFamily="34" charset="0"/>
                          <a:cs typeface="Arial" panose="020B0604020202020204" pitchFamily="34" charset="0"/>
                        </a:rPr>
                        <a:t>Ruler and Guides</a:t>
                      </a:r>
                      <a:br>
                        <a:rPr lang="en-US" sz="2000" b="0" baseline="0">
                          <a:solidFill>
                            <a:srgbClr val="FFC000"/>
                          </a:solidFill>
                          <a:latin typeface="Arial" panose="020B0604020202020204" pitchFamily="34" charset="0"/>
                          <a:cs typeface="Arial" panose="020B0604020202020204" pitchFamily="34" charset="0"/>
                        </a:rPr>
                      </a:br>
                      <a:r>
                        <a:rPr lang="en-US" sz="2000" b="0" baseline="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a:solidFill>
                          <a:srgbClr val="1F3A4E"/>
                        </a:solidFill>
                      </a:endParaRPr>
                    </a:p>
                  </a:txBody>
                  <a:tcPr>
                    <a:blipFill rotWithShape="1">
                      <a:blip r:embed="rId4"/>
                      <a:stretch>
                        <a:fillRect/>
                      </a:stretch>
                    </a:blipFill>
                  </a:tcPr>
                </a:tc>
                <a:tc>
                  <a:txBody>
                    <a:bodyPr/>
                    <a:lstStyle/>
                    <a:p>
                      <a:pPr marL="0" lvl="1" indent="0" algn="l" defTabSz="114300"/>
                      <a:r>
                        <a:rPr lang="en-US" sz="2400" b="1" baseline="0">
                          <a:solidFill>
                            <a:srgbClr val="FFC000"/>
                          </a:solidFill>
                          <a:latin typeface="Arial" panose="020B0604020202020204" pitchFamily="34" charset="0"/>
                          <a:cs typeface="Arial" panose="020B0604020202020204" pitchFamily="34" charset="0"/>
                        </a:rPr>
                        <a:t>Headers and text containers</a:t>
                      </a:r>
                      <a:br>
                        <a:rPr lang="en-US" sz="2000" b="0" baseline="0">
                          <a:solidFill>
                            <a:schemeClr val="bg1"/>
                          </a:solidFill>
                          <a:latin typeface="Arial" panose="020B0604020202020204" pitchFamily="34" charset="0"/>
                          <a:cs typeface="Arial" panose="020B0604020202020204" pitchFamily="34" charset="0"/>
                        </a:rPr>
                      </a:br>
                      <a:r>
                        <a:rPr lang="en-US" sz="2000" b="0" baseline="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a:solidFill>
                            <a:schemeClr val="bg1"/>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a:t>
                      </a:r>
                      <a:r>
                        <a:rPr lang="en-US" sz="2000" b="0" baseline="0">
                          <a:solidFill>
                            <a:schemeClr val="bg1"/>
                          </a:solidFill>
                          <a:latin typeface="Arial" panose="020B0604020202020204" pitchFamily="34" charset="0"/>
                          <a:cs typeface="Arial" panose="020B0604020202020204" pitchFamily="34" charset="0"/>
                        </a:rPr>
                        <a:t> </a:t>
                      </a:r>
                      <a:r>
                        <a:rPr lang="en-US" sz="2000" b="0" baseline="0">
                          <a:solidFill>
                            <a:srgbClr val="D9D9D9"/>
                          </a:solidFill>
                          <a:latin typeface="Arial" panose="020B0604020202020204" pitchFamily="34" charset="0"/>
                          <a:cs typeface="Arial" panose="020B0604020202020204" pitchFamily="34" charset="0"/>
                        </a:rPr>
                        <a:t>Click inside a section header to add its text. </a:t>
                      </a:r>
                      <a:br>
                        <a:rPr lang="en-US" sz="2000" b="0" baseline="0">
                          <a:solidFill>
                            <a:schemeClr val="bg1"/>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a:t>
                      </a:r>
                      <a:r>
                        <a:rPr lang="en-US" sz="2000" b="0" baseline="0">
                          <a:solidFill>
                            <a:schemeClr val="bg1"/>
                          </a:solidFill>
                          <a:latin typeface="Arial" panose="020B0604020202020204" pitchFamily="34" charset="0"/>
                          <a:cs typeface="Arial" panose="020B0604020202020204" pitchFamily="34" charset="0"/>
                        </a:rPr>
                        <a:t> </a:t>
                      </a:r>
                      <a:r>
                        <a:rPr lang="en-US" sz="2000" b="0" baseline="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a:solidFill>
                            <a:schemeClr val="bg1"/>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a:t>
                      </a:r>
                      <a:r>
                        <a:rPr lang="en-US" sz="2000" b="0" baseline="0">
                          <a:solidFill>
                            <a:schemeClr val="bg1"/>
                          </a:solidFill>
                          <a:latin typeface="Arial" panose="020B0604020202020204" pitchFamily="34" charset="0"/>
                          <a:cs typeface="Arial" panose="020B0604020202020204" pitchFamily="34" charset="0"/>
                        </a:rPr>
                        <a:t> </a:t>
                      </a:r>
                      <a:r>
                        <a:rPr lang="en-US" sz="2000" b="0" baseline="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a:solidFill>
                            <a:srgbClr val="FFC000"/>
                          </a:solidFill>
                          <a:latin typeface="Arial" panose="020B0604020202020204" pitchFamily="34" charset="0"/>
                          <a:cs typeface="Arial" panose="020B0604020202020204" pitchFamily="34" charset="0"/>
                        </a:rPr>
                        <a:t>Adding content to the poster</a:t>
                      </a:r>
                    </a:p>
                    <a:p>
                      <a:r>
                        <a:rPr lang="en-US" sz="2000" baseline="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4" name="Table 3">
            <a:extLst>
              <a:ext uri="{FF2B5EF4-FFF2-40B4-BE49-F238E27FC236}">
                <a16:creationId xmlns:a16="http://schemas.microsoft.com/office/drawing/2014/main" id="{6338BD29-2BD7-AB47-B9B8-5033641D7C2D}"/>
              </a:ext>
            </a:extLst>
          </p:cNvPr>
          <p:cNvGraphicFramePr>
            <a:graphicFrameLocks noGrp="1"/>
          </p:cNvGraphicFramePr>
          <p:nvPr userDrawn="1">
            <p:extLst>
              <p:ext uri="{D42A27DB-BD31-4B8C-83A1-F6EECF244321}">
                <p14:modId xmlns:p14="http://schemas.microsoft.com/office/powerpoint/2010/main" val="336852881"/>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a:solidFill>
                            <a:srgbClr val="1F3A4E"/>
                          </a:solidFill>
                          <a:latin typeface="Arial Black" panose="020B0A04020102020204" pitchFamily="34" charset="0"/>
                        </a:rPr>
                        <a:t>QUICK START GUIDE</a:t>
                      </a:r>
                      <a:br>
                        <a:rPr lang="en-US" sz="4000" b="0" spc="600">
                          <a:solidFill>
                            <a:srgbClr val="1F3A4E"/>
                          </a:solidFill>
                          <a:latin typeface="Arial Black" panose="020B0A04020102020204" pitchFamily="34" charset="0"/>
                        </a:rPr>
                      </a:br>
                      <a:r>
                        <a:rPr lang="en-US" sz="3200" b="1" spc="0">
                          <a:solidFill>
                            <a:srgbClr val="FF0000"/>
                          </a:solidFill>
                          <a:latin typeface="Trebuchet MS" pitchFamily="34" charset="0"/>
                        </a:rPr>
                        <a:t>(THIS SIDEBAR WILL NOT PRINT)</a:t>
                      </a:r>
                      <a:endParaRPr lang="en-US" sz="4000" b="1" spc="60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a:solidFill>
                          <a:srgbClr val="FFC000"/>
                        </a:solidFill>
                      </a:endParaRPr>
                    </a:p>
                    <a:p>
                      <a:pPr marL="0" indent="0" algn="l" defTabSz="114300"/>
                      <a:endParaRPr lang="en-US" sz="2400" b="0" baseline="0">
                        <a:solidFill>
                          <a:srgbClr val="D9D9D9"/>
                        </a:solidFill>
                        <a:latin typeface="Arial" panose="020B0604020202020204" pitchFamily="34" charset="0"/>
                        <a:cs typeface="Arial" panose="020B0604020202020204" pitchFamily="34" charset="0"/>
                      </a:endParaRPr>
                    </a:p>
                    <a:p>
                      <a:pPr marL="0" indent="0" algn="l" defTabSz="114300"/>
                      <a:r>
                        <a:rPr lang="en-US" sz="2400" b="0" baseline="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a:solidFill>
                          <a:srgbClr val="D9D9D9"/>
                        </a:solidFill>
                        <a:latin typeface="Arial" panose="020B0604020202020204" pitchFamily="34" charset="0"/>
                        <a:cs typeface="Arial" panose="020B0604020202020204" pitchFamily="34" charset="0"/>
                      </a:endParaRPr>
                    </a:p>
                    <a:p>
                      <a:pPr marL="0" indent="0" algn="l" defTabSz="114300"/>
                      <a:r>
                        <a:rPr lang="en-US" sz="2400" b="0" baseline="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a:solidFill>
                            <a:srgbClr val="FFC000"/>
                          </a:solidFill>
                          <a:latin typeface="Arial" panose="020B0604020202020204" pitchFamily="34" charset="0"/>
                          <a:cs typeface="Arial" panose="020B0604020202020204" pitchFamily="34" charset="0"/>
                        </a:rPr>
                        <a:t>How to change the column layout configuration</a:t>
                      </a:r>
                    </a:p>
                    <a:p>
                      <a:r>
                        <a:rPr lang="en-US" sz="240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a:solidFill>
                            <a:srgbClr val="D9D9D9"/>
                          </a:solidFill>
                          <a:latin typeface="Arial" panose="020B0604020202020204" pitchFamily="34" charset="0"/>
                          <a:cs typeface="Arial" panose="020B0604020202020204" pitchFamily="34" charset="0"/>
                        </a:rPr>
                        <a:t>You can see a tutorial here: </a:t>
                      </a:r>
                      <a:r>
                        <a:rPr lang="en-US" sz="2400" u="sng">
                          <a:solidFill>
                            <a:srgbClr val="FFC000"/>
                          </a:solidFill>
                          <a:latin typeface="Arial" panose="020B0604020202020204" pitchFamily="34" charset="0"/>
                          <a:cs typeface="Arial" panose="020B0604020202020204" pitchFamily="34" charset="0"/>
                        </a:rPr>
                        <a:t>https://</a:t>
                      </a:r>
                      <a:r>
                        <a:rPr lang="en-US" sz="2400" u="sng" err="1">
                          <a:solidFill>
                            <a:srgbClr val="FFC000"/>
                          </a:solidFill>
                          <a:latin typeface="Arial" panose="020B0604020202020204" pitchFamily="34" charset="0"/>
                          <a:cs typeface="Arial" panose="020B0604020202020204" pitchFamily="34" charset="0"/>
                        </a:rPr>
                        <a:t>www.posterpresentations.com</a:t>
                      </a:r>
                      <a:r>
                        <a:rPr lang="en-US" sz="2400" u="sng">
                          <a:solidFill>
                            <a:srgbClr val="FFC000"/>
                          </a:solidFill>
                          <a:latin typeface="Arial" panose="020B0604020202020204" pitchFamily="34" charset="0"/>
                          <a:cs typeface="Arial" panose="020B0604020202020204" pitchFamily="34" charset="0"/>
                        </a:rPr>
                        <a:t>/how-to-change-the-column-</a:t>
                      </a:r>
                      <a:r>
                        <a:rPr lang="en-US" sz="2400" u="sng" err="1">
                          <a:solidFill>
                            <a:srgbClr val="FFC000"/>
                          </a:solidFill>
                          <a:latin typeface="Arial" panose="020B0604020202020204" pitchFamily="34" charset="0"/>
                          <a:cs typeface="Arial" panose="020B0604020202020204" pitchFamily="34" charset="0"/>
                        </a:rPr>
                        <a:t>configuration.html</a:t>
                      </a:r>
                      <a:endParaRPr lang="en-US" u="sng">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a:solidFill>
                            <a:srgbClr val="D9D9D9"/>
                          </a:solidFill>
                          <a:latin typeface="Arial" panose="020B0604020202020204" pitchFamily="34" charset="0"/>
                          <a:cs typeface="Arial" panose="020B0604020202020204" pitchFamily="34" charset="0"/>
                        </a:rPr>
                        <a:t>The Quick Start</a:t>
                      </a:r>
                      <a:r>
                        <a:rPr lang="en-US" sz="2400" baseline="0" noProof="0">
                          <a:solidFill>
                            <a:srgbClr val="D9D9D9"/>
                          </a:solidFill>
                          <a:latin typeface="Arial" panose="020B0604020202020204" pitchFamily="34" charset="0"/>
                          <a:cs typeface="Arial" panose="020B0604020202020204" pitchFamily="34" charset="0"/>
                        </a:rPr>
                        <a:t> Guides</a:t>
                      </a:r>
                      <a:r>
                        <a:rPr lang="en-US" sz="2400" noProof="0">
                          <a:solidFill>
                            <a:srgbClr val="D9D9D9"/>
                          </a:solidFill>
                          <a:latin typeface="Arial" panose="020B0604020202020204" pitchFamily="34" charset="0"/>
                          <a:cs typeface="Arial" panose="020B0604020202020204" pitchFamily="34" charset="0"/>
                        </a:rPr>
                        <a:t> </a:t>
                      </a:r>
                      <a:r>
                        <a:rPr lang="en-US" sz="2400" u="sng" noProof="0">
                          <a:solidFill>
                            <a:srgbClr val="D9D9D9"/>
                          </a:solidFill>
                          <a:latin typeface="Arial" panose="020B0604020202020204" pitchFamily="34" charset="0"/>
                          <a:cs typeface="Arial" panose="020B0604020202020204" pitchFamily="34" charset="0"/>
                        </a:rPr>
                        <a:t>are outside the template’s printable area</a:t>
                      </a:r>
                      <a:r>
                        <a:rPr lang="en-US" sz="2400" noProof="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a:solidFill>
                            <a:srgbClr val="D9D9D9"/>
                          </a:solidFill>
                          <a:latin typeface="Arial" panose="020B0604020202020204" pitchFamily="34" charset="0"/>
                          <a:cs typeface="Arial" panose="020B0604020202020204" pitchFamily="34" charset="0"/>
                        </a:rPr>
                        <a:t>To hide the guides click on the </a:t>
                      </a:r>
                      <a:r>
                        <a:rPr lang="en-US" sz="2400" b="1" baseline="0" noProof="0">
                          <a:solidFill>
                            <a:srgbClr val="D9D9D9"/>
                          </a:solidFill>
                          <a:latin typeface="Arial" panose="020B0604020202020204" pitchFamily="34" charset="0"/>
                          <a:cs typeface="Arial" panose="020B0604020202020204" pitchFamily="34" charset="0"/>
                        </a:rPr>
                        <a:t>Home</a:t>
                      </a:r>
                      <a:r>
                        <a:rPr lang="en-US" sz="24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a:solidFill>
                            <a:srgbClr val="D9D9D9"/>
                          </a:solidFill>
                          <a:latin typeface="Arial" panose="020B0604020202020204" pitchFamily="34" charset="0"/>
                          <a:cs typeface="Arial" panose="020B0604020202020204" pitchFamily="34" charset="0"/>
                        </a:rPr>
                        <a:t>Layout</a:t>
                      </a:r>
                      <a:r>
                        <a:rPr lang="en-US" sz="24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a:solidFill>
                            <a:srgbClr val="D9D9D9"/>
                          </a:solidFill>
                          <a:latin typeface="Arial" panose="020B0604020202020204" pitchFamily="34" charset="0"/>
                          <a:cs typeface="Arial" panose="020B0604020202020204" pitchFamily="34" charset="0"/>
                        </a:rPr>
                        <a:t>Without Guides </a:t>
                      </a:r>
                      <a:r>
                        <a:rPr lang="en-US" sz="2400" b="0" baseline="0" noProof="0">
                          <a:solidFill>
                            <a:srgbClr val="D9D9D9"/>
                          </a:solidFill>
                          <a:latin typeface="Arial" panose="020B0604020202020204" pitchFamily="34" charset="0"/>
                          <a:cs typeface="Arial" panose="020B0604020202020204" pitchFamily="34" charset="0"/>
                        </a:rPr>
                        <a:t>layout</a:t>
                      </a:r>
                      <a:r>
                        <a:rPr lang="en-US" sz="2400" baseline="0" noProof="0">
                          <a:solidFill>
                            <a:srgbClr val="D9D9D9"/>
                          </a:solidFill>
                          <a:latin typeface="Arial" panose="020B0604020202020204" pitchFamily="34" charset="0"/>
                          <a:cs typeface="Arial" panose="020B0604020202020204" pitchFamily="34" charset="0"/>
                        </a:rPr>
                        <a:t>.</a:t>
                      </a:r>
                      <a:endParaRPr lang="en-US" sz="240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a:solidFill>
                            <a:srgbClr val="FFC000"/>
                          </a:solidFill>
                          <a:latin typeface="Arial" panose="020B0604020202020204" pitchFamily="34" charset="0"/>
                          <a:cs typeface="Arial" panose="020B0604020202020204" pitchFamily="34" charset="0"/>
                        </a:rPr>
                        <a:t>How to</a:t>
                      </a:r>
                      <a:r>
                        <a:rPr lang="en-US" sz="2800" b="1" baseline="0">
                          <a:solidFill>
                            <a:srgbClr val="FFC000"/>
                          </a:solidFill>
                          <a:latin typeface="Arial" panose="020B0604020202020204" pitchFamily="34" charset="0"/>
                          <a:cs typeface="Arial" panose="020B0604020202020204" pitchFamily="34" charset="0"/>
                        </a:rPr>
                        <a:t> preview your poster prior to printing</a:t>
                      </a:r>
                      <a:endParaRPr lang="en-US" sz="2800" b="1">
                        <a:solidFill>
                          <a:srgbClr val="FFC000"/>
                        </a:solidFill>
                        <a:latin typeface="Arial" panose="020B0604020202020204" pitchFamily="34" charset="0"/>
                        <a:cs typeface="Arial" panose="020B0604020202020204" pitchFamily="34" charset="0"/>
                      </a:endParaRPr>
                    </a:p>
                    <a:p>
                      <a:r>
                        <a:rPr lang="en-US" sz="2400">
                          <a:solidFill>
                            <a:srgbClr val="D9D9D9"/>
                          </a:solidFill>
                          <a:latin typeface="Arial" panose="020B0604020202020204" pitchFamily="34" charset="0"/>
                          <a:cs typeface="Arial" panose="020B0604020202020204" pitchFamily="34" charset="0"/>
                        </a:rPr>
                        <a:t>You can preview your poster at any time by pressing the </a:t>
                      </a:r>
                      <a:r>
                        <a:rPr lang="en-US" sz="2400">
                          <a:solidFill>
                            <a:srgbClr val="FFC000"/>
                          </a:solidFill>
                          <a:latin typeface="Arial" panose="020B0604020202020204" pitchFamily="34" charset="0"/>
                          <a:cs typeface="Arial" panose="020B0604020202020204" pitchFamily="34" charset="0"/>
                        </a:rPr>
                        <a:t>F5 key</a:t>
                      </a:r>
                      <a:r>
                        <a:rPr lang="en-US" sz="240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a:solidFill>
                            <a:srgbClr val="FFC000"/>
                          </a:solidFill>
                          <a:latin typeface="Arial" panose="020B0604020202020204" pitchFamily="34" charset="0"/>
                          <a:cs typeface="Arial" panose="020B0604020202020204" pitchFamily="34" charset="0"/>
                        </a:rPr>
                        <a:t>ESC key </a:t>
                      </a:r>
                      <a:r>
                        <a:rPr lang="en-US" sz="240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a:solidFill>
                            <a:srgbClr val="D9D9D9"/>
                          </a:solidFill>
                          <a:latin typeface="Arial" panose="020B0604020202020204" pitchFamily="34" charset="0"/>
                          <a:cs typeface="Arial" panose="020B0604020202020204" pitchFamily="34" charset="0"/>
                        </a:rPr>
                        <a:t>F5</a:t>
                      </a:r>
                      <a:r>
                        <a:rPr lang="en-US" sz="2400" baseline="0">
                          <a:solidFill>
                            <a:srgbClr val="D9D9D9"/>
                          </a:solidFill>
                          <a:latin typeface="Arial" panose="020B0604020202020204" pitchFamily="34" charset="0"/>
                          <a:cs typeface="Arial" panose="020B0604020202020204" pitchFamily="34" charset="0"/>
                        </a:rPr>
                        <a:t> </a:t>
                      </a:r>
                      <a:endParaRPr lang="en-US"/>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a:solidFill>
                            <a:srgbClr val="D9D9D9"/>
                          </a:solidFill>
                          <a:latin typeface="Arial"/>
                          <a:cs typeface="Arial"/>
                        </a:rPr>
                        <a:t>When you are ready to have your poster printed go online to </a:t>
                      </a:r>
                      <a:r>
                        <a:rPr lang="en-US" sz="2400" noProof="0" err="1">
                          <a:solidFill>
                            <a:srgbClr val="FFC000"/>
                          </a:solidFill>
                          <a:latin typeface="Arial"/>
                          <a:cs typeface="Arial"/>
                        </a:rPr>
                        <a:t>PosterPresentations.com</a:t>
                      </a:r>
                      <a:r>
                        <a:rPr lang="en-US" sz="2400" noProof="0">
                          <a:solidFill>
                            <a:srgbClr val="D9D9D9"/>
                          </a:solidFill>
                          <a:latin typeface="Arial"/>
                          <a:cs typeface="Arial"/>
                        </a:rPr>
                        <a:t> and click on the "</a:t>
                      </a:r>
                      <a:r>
                        <a:rPr lang="en-US" sz="2400" noProof="0">
                          <a:solidFill>
                            <a:srgbClr val="FFC000"/>
                          </a:solidFill>
                          <a:latin typeface="Arial"/>
                          <a:cs typeface="Arial"/>
                        </a:rPr>
                        <a:t>Order Your Poster</a:t>
                      </a:r>
                      <a:r>
                        <a:rPr lang="en-US" sz="2400" noProof="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a:solidFill>
                            <a:srgbClr val="D9D9D9"/>
                          </a:solidFill>
                          <a:latin typeface="Arial"/>
                          <a:cs typeface="Arial"/>
                        </a:rPr>
                      </a:br>
                      <a:r>
                        <a:rPr lang="en-US" sz="2400" noProof="0">
                          <a:solidFill>
                            <a:srgbClr val="D9D9D9"/>
                          </a:solidFill>
                          <a:latin typeface="Arial"/>
                          <a:cs typeface="Arial"/>
                        </a:rPr>
                        <a:t>Go to </a:t>
                      </a:r>
                      <a:r>
                        <a:rPr lang="en-US" sz="2400" noProof="0" err="1">
                          <a:solidFill>
                            <a:srgbClr val="FFC000"/>
                          </a:solidFill>
                          <a:latin typeface="Arial"/>
                          <a:cs typeface="Arial"/>
                        </a:rPr>
                        <a:t>PosterPresentations.com</a:t>
                      </a:r>
                      <a:r>
                        <a:rPr lang="en-US" sz="2400" noProof="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a:solidFill>
                            <a:schemeClr val="bg1">
                              <a:lumMod val="85000"/>
                            </a:schemeClr>
                          </a:solidFill>
                          <a:latin typeface="Arial"/>
                          <a:cs typeface="Arial"/>
                        </a:rPr>
                        <a:t>© 2019</a:t>
                      </a:r>
                      <a:r>
                        <a:rPr lang="en-US" sz="2000" baseline="0">
                          <a:solidFill>
                            <a:schemeClr val="bg1">
                              <a:lumMod val="85000"/>
                            </a:schemeClr>
                          </a:solidFill>
                          <a:latin typeface="Arial"/>
                          <a:cs typeface="Arial"/>
                        </a:rPr>
                        <a:t> </a:t>
                      </a:r>
                      <a:r>
                        <a:rPr lang="en-US" sz="2000" err="1">
                          <a:solidFill>
                            <a:schemeClr val="bg1">
                              <a:lumMod val="85000"/>
                            </a:schemeClr>
                          </a:solidFill>
                          <a:latin typeface="Arial"/>
                          <a:cs typeface="Arial"/>
                        </a:rPr>
                        <a:t>PosterPresentations.com</a:t>
                      </a:r>
                      <a:br>
                        <a:rPr lang="en-US" sz="2000">
                          <a:solidFill>
                            <a:schemeClr val="bg1">
                              <a:lumMod val="85000"/>
                            </a:schemeClr>
                          </a:solidFill>
                          <a:latin typeface="Arial"/>
                          <a:cs typeface="Arial"/>
                        </a:rPr>
                      </a:br>
                      <a:r>
                        <a:rPr lang="en-US" sz="2000">
                          <a:solidFill>
                            <a:schemeClr val="bg1">
                              <a:lumMod val="85000"/>
                            </a:schemeClr>
                          </a:solidFill>
                          <a:latin typeface="Arial"/>
                          <a:cs typeface="Arial"/>
                        </a:rPr>
                        <a:t>2117 Fourth Street ,</a:t>
                      </a:r>
                      <a:r>
                        <a:rPr lang="en-US" sz="2000" baseline="0">
                          <a:solidFill>
                            <a:schemeClr val="bg1">
                              <a:lumMod val="85000"/>
                            </a:schemeClr>
                          </a:solidFill>
                          <a:latin typeface="Arial"/>
                          <a:cs typeface="Arial"/>
                        </a:rPr>
                        <a:t> STE C        </a:t>
                      </a:r>
                    </a:p>
                    <a:p>
                      <a:pPr>
                        <a:lnSpc>
                          <a:spcPts val="2600"/>
                        </a:lnSpc>
                      </a:pPr>
                      <a:r>
                        <a:rPr lang="en-US" sz="2000" baseline="0">
                          <a:solidFill>
                            <a:schemeClr val="bg1">
                              <a:lumMod val="85000"/>
                            </a:schemeClr>
                          </a:solidFill>
                          <a:latin typeface="Arial"/>
                          <a:cs typeface="Arial"/>
                        </a:rPr>
                        <a:t>Berkeley CA 94710 USA</a:t>
                      </a:r>
                      <a:endParaRPr lang="en-US" sz="200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a:solidFill>
                            <a:srgbClr val="D0D0D0"/>
                          </a:solidFill>
                          <a:latin typeface="Arial"/>
                          <a:cs typeface="Arial"/>
                        </a:rPr>
                        <a:t>For complete tutorials</a:t>
                      </a:r>
                      <a:r>
                        <a:rPr lang="en-US" sz="2400" b="1" baseline="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a:solidFill>
                            <a:srgbClr val="FFC000"/>
                          </a:solidFill>
                          <a:latin typeface="Arial"/>
                          <a:cs typeface="Arial"/>
                        </a:rPr>
                        <a:t>https://</a:t>
                      </a:r>
                      <a:r>
                        <a:rPr lang="en-US" sz="1800" b="1" err="1">
                          <a:solidFill>
                            <a:srgbClr val="FFC000"/>
                          </a:solidFill>
                          <a:latin typeface="Arial"/>
                          <a:cs typeface="Arial"/>
                        </a:rPr>
                        <a:t>www.posterpresentations.com</a:t>
                      </a:r>
                      <a:r>
                        <a:rPr lang="en-US" sz="1800" b="1">
                          <a:solidFill>
                            <a:srgbClr val="FFC000"/>
                          </a:solidFill>
                          <a:latin typeface="Arial"/>
                          <a:cs typeface="Arial"/>
                        </a:rPr>
                        <a:t>/</a:t>
                      </a:r>
                      <a:r>
                        <a:rPr lang="en-US" sz="1800" b="1" err="1">
                          <a:solidFill>
                            <a:srgbClr val="FFC000"/>
                          </a:solidFill>
                          <a:latin typeface="Arial"/>
                          <a:cs typeface="Arial"/>
                        </a:rPr>
                        <a:t>helpdesk.html</a:t>
                      </a:r>
                      <a:endParaRPr lang="en-US" sz="180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567305" y="32390910"/>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1.xml"/><Relationship Id="rId16"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B89CCAE-9A63-0007-0E52-CB707DC33FF7}"/>
              </a:ext>
            </a:extLst>
          </p:cNvPr>
          <p:cNvSpPr/>
          <p:nvPr/>
        </p:nvSpPr>
        <p:spPr>
          <a:xfrm>
            <a:off x="-338671" y="5005580"/>
            <a:ext cx="44500799" cy="28420820"/>
          </a:xfrm>
          <a:prstGeom prst="rect">
            <a:avLst/>
          </a:prstGeom>
          <a:gradFill flip="none" rotWithShape="1">
            <a:gsLst>
              <a:gs pos="0">
                <a:schemeClr val="tx2">
                  <a:lumMod val="75000"/>
                </a:schemeClr>
              </a:gs>
              <a:gs pos="100000">
                <a:schemeClr val="accent1">
                  <a:lumMod val="45000"/>
                  <a:lumOff val="55000"/>
                </a:schemeClr>
              </a:gs>
              <a:gs pos="98000">
                <a:schemeClr val="accent1">
                  <a:lumMod val="45000"/>
                  <a:lumOff val="55000"/>
                </a:schemeClr>
              </a:gs>
              <a:gs pos="100000">
                <a:schemeClr val="accent1">
                  <a:lumMod val="30000"/>
                  <a:lumOff val="70000"/>
                </a:schemeClr>
              </a:gs>
            </a:gsLst>
            <a:lin ang="54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52C3FE15-FAD8-0696-C741-02EE5D319E0B}"/>
              </a:ext>
            </a:extLst>
          </p:cNvPr>
          <p:cNvSpPr/>
          <p:nvPr/>
        </p:nvSpPr>
        <p:spPr>
          <a:xfrm>
            <a:off x="-338671" y="-285680"/>
            <a:ext cx="44500799" cy="5329722"/>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A68D91CD-787B-F2EA-BCCE-3EA28C525DAA}"/>
              </a:ext>
            </a:extLst>
          </p:cNvPr>
          <p:cNvSpPr txBox="1"/>
          <p:nvPr/>
        </p:nvSpPr>
        <p:spPr>
          <a:xfrm>
            <a:off x="-7907867" y="3522133"/>
            <a:ext cx="184731" cy="477054"/>
          </a:xfrm>
          <a:prstGeom prst="rect">
            <a:avLst/>
          </a:prstGeom>
          <a:noFill/>
        </p:spPr>
        <p:txBody>
          <a:bodyPr wrap="none" rtlCol="0">
            <a:spAutoFit/>
          </a:bodyPr>
          <a:lstStyle/>
          <a:p>
            <a:endParaRPr lang="en-US" sz="2500" dirty="0">
              <a:latin typeface="Times New Roman" panose="02020603050405020304" pitchFamily="18" charset="0"/>
              <a:cs typeface="Times New Roman" panose="02020603050405020304" pitchFamily="18" charset="0"/>
            </a:endParaRPr>
          </a:p>
        </p:txBody>
      </p:sp>
      <p:pic>
        <p:nvPicPr>
          <p:cNvPr id="30" name="Picture 29" descr="A logo of a book and birds&#10;&#10;Description automatically generated">
            <a:extLst>
              <a:ext uri="{FF2B5EF4-FFF2-40B4-BE49-F238E27FC236}">
                <a16:creationId xmlns:a16="http://schemas.microsoft.com/office/drawing/2014/main" id="{6BF1CA54-C0B3-9488-F889-9AC232E0AD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01102" y="642255"/>
            <a:ext cx="2353118" cy="2643953"/>
          </a:xfrm>
          <a:prstGeom prst="rect">
            <a:avLst/>
          </a:prstGeom>
        </p:spPr>
      </p:pic>
      <p:sp>
        <p:nvSpPr>
          <p:cNvPr id="31" name="Text Placeholder 101">
            <a:extLst>
              <a:ext uri="{FF2B5EF4-FFF2-40B4-BE49-F238E27FC236}">
                <a16:creationId xmlns:a16="http://schemas.microsoft.com/office/drawing/2014/main" id="{6361CD0A-9444-59D0-C214-ADDC726DF550}"/>
              </a:ext>
            </a:extLst>
          </p:cNvPr>
          <p:cNvSpPr txBox="1">
            <a:spLocks/>
          </p:cNvSpPr>
          <p:nvPr/>
        </p:nvSpPr>
        <p:spPr>
          <a:xfrm>
            <a:off x="26365393" y="3458119"/>
            <a:ext cx="4212659" cy="1375550"/>
          </a:xfrm>
          <a:prstGeom prst="rect">
            <a:avLst/>
          </a:prstGeom>
        </p:spPr>
        <p:txBody>
          <a:bodyPr anchor="t" anchorCtr="1">
            <a:normAutofit fontScale="92500" lnSpcReduction="20000"/>
          </a:bodyPr>
          <a:lstStyle>
            <a:lvl1pPr marL="0" indent="0" algn="ctr" defTabSz="4388900" rtl="0" eaLnBrk="1" latinLnBrk="0" hangingPunct="1">
              <a:spcBef>
                <a:spcPct val="20000"/>
              </a:spcBef>
              <a:buFontTx/>
              <a:buNone/>
              <a:defRPr sz="8800" kern="1200">
                <a:solidFill>
                  <a:schemeClr val="accent5">
                    <a:lumMod val="50000"/>
                  </a:schemeClr>
                </a:solidFill>
                <a:latin typeface="+mj-lt"/>
                <a:ea typeface="+mn-ea"/>
                <a:cs typeface="+mn-cs"/>
              </a:defRPr>
            </a:lvl1pPr>
            <a:lvl2pPr marL="3565982" indent="-1371531" algn="l" defTabSz="4388900" rtl="0" eaLnBrk="1" latinLnBrk="0" hangingPunct="1">
              <a:spcBef>
                <a:spcPct val="20000"/>
              </a:spcBef>
              <a:buFontTx/>
              <a:buNone/>
              <a:defRPr sz="7200" kern="1200">
                <a:solidFill>
                  <a:schemeClr val="tx1"/>
                </a:solidFill>
                <a:latin typeface="+mn-lt"/>
                <a:ea typeface="+mn-ea"/>
                <a:cs typeface="+mn-cs"/>
              </a:defRPr>
            </a:lvl2pPr>
            <a:lvl3pPr marL="5486126" indent="-1097226" algn="l" defTabSz="4388900" rtl="0" eaLnBrk="1" latinLnBrk="0" hangingPunct="1">
              <a:spcBef>
                <a:spcPct val="20000"/>
              </a:spcBef>
              <a:buFontTx/>
              <a:buNone/>
              <a:defRPr sz="7200" kern="1200">
                <a:solidFill>
                  <a:schemeClr val="tx1"/>
                </a:solidFill>
                <a:latin typeface="+mn-lt"/>
                <a:ea typeface="+mn-ea"/>
                <a:cs typeface="+mn-cs"/>
              </a:defRPr>
            </a:lvl3pPr>
            <a:lvl4pPr marL="7680577" indent="-1097226" algn="l" defTabSz="4388900" rtl="0" eaLnBrk="1" latinLnBrk="0" hangingPunct="1">
              <a:spcBef>
                <a:spcPct val="20000"/>
              </a:spcBef>
              <a:buFontTx/>
              <a:buNone/>
              <a:defRPr sz="7200" kern="1200">
                <a:solidFill>
                  <a:schemeClr val="tx1"/>
                </a:solidFill>
                <a:latin typeface="+mn-lt"/>
                <a:ea typeface="+mn-ea"/>
                <a:cs typeface="+mn-cs"/>
              </a:defRPr>
            </a:lvl4pPr>
            <a:lvl5pPr marL="9875026" indent="-1097226" algn="l" defTabSz="4388900" rtl="0" eaLnBrk="1" latinLnBrk="0" hangingPunct="1">
              <a:spcBef>
                <a:spcPct val="20000"/>
              </a:spcBef>
              <a:buFontTx/>
              <a:buNone/>
              <a:defRPr sz="72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5200" dirty="0">
                <a:solidFill>
                  <a:schemeClr val="bg2"/>
                </a:solidFill>
              </a:rPr>
              <a:t>University of Victoria</a:t>
            </a:r>
          </a:p>
        </p:txBody>
      </p:sp>
      <p:sp>
        <p:nvSpPr>
          <p:cNvPr id="21" name="Rectangle 20">
            <a:extLst>
              <a:ext uri="{FF2B5EF4-FFF2-40B4-BE49-F238E27FC236}">
                <a16:creationId xmlns:a16="http://schemas.microsoft.com/office/drawing/2014/main" id="{9B28CEAE-B530-E144-B625-07B27C6CADE4}"/>
              </a:ext>
            </a:extLst>
          </p:cNvPr>
          <p:cNvSpPr/>
          <p:nvPr/>
        </p:nvSpPr>
        <p:spPr>
          <a:xfrm>
            <a:off x="548805" y="5474219"/>
            <a:ext cx="11315320" cy="26867622"/>
          </a:xfrm>
          <a:prstGeom prst="rect">
            <a:avLst/>
          </a:prstGeom>
          <a:solidFill>
            <a:schemeClr val="tx2">
              <a:lumMod val="20000"/>
              <a:lumOff val="80000"/>
            </a:schemeClr>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Text Placeholder 87">
            <a:extLst>
              <a:ext uri="{FF2B5EF4-FFF2-40B4-BE49-F238E27FC236}">
                <a16:creationId xmlns:a16="http://schemas.microsoft.com/office/drawing/2014/main" id="{ED6BA1F4-974B-AA4D-BF12-3F1211493C26}"/>
              </a:ext>
            </a:extLst>
          </p:cNvPr>
          <p:cNvSpPr>
            <a:spLocks noGrp="1"/>
          </p:cNvSpPr>
          <p:nvPr>
            <p:ph type="body" sz="quarter" idx="11"/>
          </p:nvPr>
        </p:nvSpPr>
        <p:spPr>
          <a:xfrm>
            <a:off x="1058701" y="5893167"/>
            <a:ext cx="10223337" cy="2157244"/>
          </a:xfrm>
          <a:solidFill>
            <a:schemeClr val="tx2">
              <a:lumMod val="75000"/>
            </a:schemeClr>
          </a:solidFill>
          <a:ln w="9525">
            <a:solidFill>
              <a:schemeClr val="accent1">
                <a:shade val="15000"/>
              </a:schemeClr>
            </a:solidFill>
          </a:ln>
        </p:spPr>
        <p:txBody>
          <a:bodyPr/>
          <a:lstStyle/>
          <a:p>
            <a:r>
              <a:rPr lang="en-US" sz="6000" u="none" dirty="0">
                <a:solidFill>
                  <a:schemeClr val="bg2"/>
                </a:solidFill>
              </a:rPr>
              <a:t>Why?</a:t>
            </a:r>
          </a:p>
          <a:p>
            <a:r>
              <a:rPr lang="en-US" sz="6000" u="none" dirty="0">
                <a:solidFill>
                  <a:schemeClr val="bg2"/>
                </a:solidFill>
              </a:rPr>
              <a:t>Quantum Internet</a:t>
            </a:r>
          </a:p>
        </p:txBody>
      </p:sp>
      <p:sp>
        <p:nvSpPr>
          <p:cNvPr id="102" name="Text Placeholder 101">
            <a:extLst>
              <a:ext uri="{FF2B5EF4-FFF2-40B4-BE49-F238E27FC236}">
                <a16:creationId xmlns:a16="http://schemas.microsoft.com/office/drawing/2014/main" id="{54FAC610-AA8B-4244-8F06-6E0DE1A9D297}"/>
              </a:ext>
            </a:extLst>
          </p:cNvPr>
          <p:cNvSpPr>
            <a:spLocks noGrp="1"/>
          </p:cNvSpPr>
          <p:nvPr>
            <p:ph type="body" sz="quarter" idx="151"/>
          </p:nvPr>
        </p:nvSpPr>
        <p:spPr>
          <a:xfrm>
            <a:off x="30639028" y="576560"/>
            <a:ext cx="13114228" cy="4137362"/>
          </a:xfrm>
        </p:spPr>
        <p:txBody>
          <a:bodyPr>
            <a:normAutofit fontScale="85000" lnSpcReduction="20000"/>
          </a:bodyPr>
          <a:lstStyle/>
          <a:p>
            <a:endParaRPr lang="en-US" sz="3000" dirty="0">
              <a:solidFill>
                <a:schemeClr val="bg2"/>
              </a:solidFill>
            </a:endParaRPr>
          </a:p>
          <a:p>
            <a:r>
              <a:rPr lang="en-US" dirty="0">
                <a:solidFill>
                  <a:schemeClr val="bg2"/>
                </a:solidFill>
              </a:rPr>
              <a:t>Aaron Dayton</a:t>
            </a:r>
          </a:p>
          <a:p>
            <a:endParaRPr lang="en-US" sz="3500" dirty="0">
              <a:solidFill>
                <a:schemeClr val="bg2"/>
              </a:solidFill>
            </a:endParaRPr>
          </a:p>
          <a:p>
            <a:r>
              <a:rPr lang="en-US" sz="5200" i="1" dirty="0">
                <a:solidFill>
                  <a:schemeClr val="bg2"/>
                </a:solidFill>
              </a:rPr>
              <a:t>Supervisor: Prof. Andrew MacRae</a:t>
            </a:r>
          </a:p>
          <a:p>
            <a:r>
              <a:rPr lang="en-US" sz="5200" i="1" dirty="0">
                <a:solidFill>
                  <a:schemeClr val="bg2"/>
                </a:solidFill>
              </a:rPr>
              <a:t>Department of Physics and Astronomy</a:t>
            </a:r>
          </a:p>
          <a:p>
            <a:r>
              <a:rPr lang="en-US" sz="5200" i="1" dirty="0">
                <a:solidFill>
                  <a:schemeClr val="bg2"/>
                </a:solidFill>
              </a:rPr>
              <a:t>February 2026  </a:t>
            </a:r>
          </a:p>
        </p:txBody>
      </p:sp>
      <p:sp>
        <p:nvSpPr>
          <p:cNvPr id="103" name="Text Placeholder 102">
            <a:extLst>
              <a:ext uri="{FF2B5EF4-FFF2-40B4-BE49-F238E27FC236}">
                <a16:creationId xmlns:a16="http://schemas.microsoft.com/office/drawing/2014/main" id="{95FDDD8F-0EE1-3F4F-AEB9-C6A6DBC65968}"/>
              </a:ext>
            </a:extLst>
          </p:cNvPr>
          <p:cNvSpPr>
            <a:spLocks noGrp="1"/>
          </p:cNvSpPr>
          <p:nvPr>
            <p:ph type="body" sz="quarter" idx="153"/>
          </p:nvPr>
        </p:nvSpPr>
        <p:spPr>
          <a:xfrm>
            <a:off x="993617" y="1011640"/>
            <a:ext cx="25310800" cy="3582537"/>
          </a:xfrm>
        </p:spPr>
        <p:txBody>
          <a:bodyPr>
            <a:noAutofit/>
          </a:bodyPr>
          <a:lstStyle/>
          <a:p>
            <a:r>
              <a:rPr lang="en-CA" sz="9600" dirty="0">
                <a:solidFill>
                  <a:schemeClr val="bg2"/>
                </a:solidFill>
              </a:rPr>
              <a:t>Simulation of Squeezed Light Generation in an Optical Resonator</a:t>
            </a:r>
            <a:endParaRPr lang="en-US" sz="9600" dirty="0">
              <a:solidFill>
                <a:schemeClr val="bg2"/>
              </a:solidFill>
            </a:endParaRPr>
          </a:p>
        </p:txBody>
      </p:sp>
      <p:sp>
        <p:nvSpPr>
          <p:cNvPr id="22" name="Rectangle 21">
            <a:extLst>
              <a:ext uri="{FF2B5EF4-FFF2-40B4-BE49-F238E27FC236}">
                <a16:creationId xmlns:a16="http://schemas.microsoft.com/office/drawing/2014/main" id="{1BAE60CA-AD27-D24B-1657-614B4ABEA703}"/>
              </a:ext>
            </a:extLst>
          </p:cNvPr>
          <p:cNvSpPr/>
          <p:nvPr/>
        </p:nvSpPr>
        <p:spPr>
          <a:xfrm>
            <a:off x="12594732" y="5474220"/>
            <a:ext cx="18633995" cy="26867619"/>
          </a:xfrm>
          <a:prstGeom prst="rect">
            <a:avLst/>
          </a:prstGeom>
          <a:solidFill>
            <a:schemeClr val="tx2">
              <a:lumMod val="20000"/>
              <a:lumOff val="80000"/>
            </a:schemeClr>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9AC99D48-FCF1-23D3-E506-104AC1A1CB5E}"/>
              </a:ext>
            </a:extLst>
          </p:cNvPr>
          <p:cNvSpPr/>
          <p:nvPr/>
        </p:nvSpPr>
        <p:spPr>
          <a:xfrm>
            <a:off x="32063171" y="5474219"/>
            <a:ext cx="11315320" cy="26867621"/>
          </a:xfrm>
          <a:prstGeom prst="rect">
            <a:avLst/>
          </a:prstGeom>
          <a:solidFill>
            <a:schemeClr val="tx2">
              <a:lumMod val="20000"/>
              <a:lumOff val="80000"/>
            </a:schemeClr>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 Placeholder 87">
            <a:extLst>
              <a:ext uri="{FF2B5EF4-FFF2-40B4-BE49-F238E27FC236}">
                <a16:creationId xmlns:a16="http://schemas.microsoft.com/office/drawing/2014/main" id="{8CB33264-C27A-EC34-306A-6AC5EF207B07}"/>
              </a:ext>
            </a:extLst>
          </p:cNvPr>
          <p:cNvSpPr txBox="1">
            <a:spLocks/>
          </p:cNvSpPr>
          <p:nvPr/>
        </p:nvSpPr>
        <p:spPr>
          <a:xfrm>
            <a:off x="32609161" y="5893167"/>
            <a:ext cx="10223337" cy="2215983"/>
          </a:xfrm>
          <a:prstGeom prst="rect">
            <a:avLst/>
          </a:prstGeom>
          <a:solidFill>
            <a:schemeClr val="tx2">
              <a:lumMod val="75000"/>
            </a:schemeClr>
          </a:solidFill>
          <a:ln w="9525">
            <a:solidFill>
              <a:schemeClr val="accent1">
                <a:shade val="15000"/>
              </a:schemeClr>
            </a:solidFill>
          </a:ln>
        </p:spPr>
        <p:txBody>
          <a:bodyPr wrap="square"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6000" u="none" dirty="0">
                <a:solidFill>
                  <a:schemeClr val="bg2"/>
                </a:solidFill>
              </a:rPr>
              <a:t>Then What?</a:t>
            </a:r>
          </a:p>
          <a:p>
            <a:r>
              <a:rPr lang="en-US" sz="6000" u="none" dirty="0">
                <a:solidFill>
                  <a:schemeClr val="bg2"/>
                </a:solidFill>
              </a:rPr>
              <a:t>Takeaways and Outlook</a:t>
            </a:r>
          </a:p>
        </p:txBody>
      </p:sp>
      <p:sp>
        <p:nvSpPr>
          <p:cNvPr id="36" name="Text Placeholder 87">
            <a:extLst>
              <a:ext uri="{FF2B5EF4-FFF2-40B4-BE49-F238E27FC236}">
                <a16:creationId xmlns:a16="http://schemas.microsoft.com/office/drawing/2014/main" id="{0B675B14-2015-7CC6-F4AB-F851859B2BB2}"/>
              </a:ext>
            </a:extLst>
          </p:cNvPr>
          <p:cNvSpPr txBox="1">
            <a:spLocks/>
          </p:cNvSpPr>
          <p:nvPr/>
        </p:nvSpPr>
        <p:spPr>
          <a:xfrm>
            <a:off x="13243864" y="5932664"/>
            <a:ext cx="17439568" cy="2215983"/>
          </a:xfrm>
          <a:prstGeom prst="rect">
            <a:avLst/>
          </a:prstGeom>
          <a:solidFill>
            <a:schemeClr val="tx2">
              <a:lumMod val="75000"/>
            </a:schemeClr>
          </a:solidFill>
          <a:ln w="9525">
            <a:solidFill>
              <a:schemeClr val="accent1">
                <a:shade val="15000"/>
              </a:schemeClr>
            </a:solidFill>
          </a:ln>
        </p:spPr>
        <p:txBody>
          <a:bodyPr wrap="square"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6000" u="none" dirty="0">
                <a:solidFill>
                  <a:schemeClr val="bg2"/>
                </a:solidFill>
              </a:rPr>
              <a:t>How?</a:t>
            </a:r>
          </a:p>
          <a:p>
            <a:r>
              <a:rPr lang="en-US" sz="6000" u="none" dirty="0">
                <a:solidFill>
                  <a:schemeClr val="bg2"/>
                </a:solidFill>
              </a:rPr>
              <a:t>Setup and Simulation Methods</a:t>
            </a:r>
          </a:p>
        </p:txBody>
      </p:sp>
      <p:grpSp>
        <p:nvGrpSpPr>
          <p:cNvPr id="60" name="Group 59">
            <a:extLst>
              <a:ext uri="{FF2B5EF4-FFF2-40B4-BE49-F238E27FC236}">
                <a16:creationId xmlns:a16="http://schemas.microsoft.com/office/drawing/2014/main" id="{8727E364-85CC-909D-EE82-DAF100FE3750}"/>
              </a:ext>
            </a:extLst>
          </p:cNvPr>
          <p:cNvGrpSpPr/>
          <p:nvPr/>
        </p:nvGrpSpPr>
        <p:grpSpPr>
          <a:xfrm>
            <a:off x="693906" y="13668466"/>
            <a:ext cx="10588130" cy="8065443"/>
            <a:chOff x="692548" y="8733403"/>
            <a:chExt cx="10952923" cy="8174376"/>
          </a:xfrm>
        </p:grpSpPr>
        <p:pic>
          <p:nvPicPr>
            <p:cNvPr id="1026" name="Picture 2" descr="Our Network | Bell Wholesale">
              <a:extLst>
                <a:ext uri="{FF2B5EF4-FFF2-40B4-BE49-F238E27FC236}">
                  <a16:creationId xmlns:a16="http://schemas.microsoft.com/office/drawing/2014/main" id="{62763226-670F-62E5-C735-695DF07DFC5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1738"/>
            <a:stretch>
              <a:fillRect/>
            </a:stretch>
          </p:blipFill>
          <p:spPr bwMode="auto">
            <a:xfrm>
              <a:off x="692548" y="8733403"/>
              <a:ext cx="10952923" cy="7472178"/>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AA0D6C68-3DC7-043D-BE09-EBF7FE448B63}"/>
                </a:ext>
              </a:extLst>
            </p:cNvPr>
            <p:cNvSpPr txBox="1"/>
            <p:nvPr/>
          </p:nvSpPr>
          <p:spPr>
            <a:xfrm>
              <a:off x="1533745" y="16377492"/>
              <a:ext cx="9345439" cy="530287"/>
            </a:xfrm>
            <a:prstGeom prst="rect">
              <a:avLst/>
            </a:prstGeom>
            <a:noFill/>
          </p:spPr>
          <p:txBody>
            <a:bodyPr wrap="square" rtlCol="0">
              <a:spAutoFit/>
            </a:bodyPr>
            <a:lstStyle/>
            <a:p>
              <a:r>
                <a:rPr lang="en-US" sz="2800" dirty="0">
                  <a:cs typeface="Times New Roman" panose="02020603050405020304" pitchFamily="18" charset="0"/>
                </a:rPr>
                <a:t>Fig. 1 – Existing Bell Fiber Optic Network [2]. </a:t>
              </a:r>
            </a:p>
          </p:txBody>
        </p:sp>
      </p:grpSp>
      <p:grpSp>
        <p:nvGrpSpPr>
          <p:cNvPr id="10" name="Group 9">
            <a:extLst>
              <a:ext uri="{FF2B5EF4-FFF2-40B4-BE49-F238E27FC236}">
                <a16:creationId xmlns:a16="http://schemas.microsoft.com/office/drawing/2014/main" id="{621BA578-0D76-239C-821C-C59AB5465B67}"/>
              </a:ext>
            </a:extLst>
          </p:cNvPr>
          <p:cNvGrpSpPr/>
          <p:nvPr/>
        </p:nvGrpSpPr>
        <p:grpSpPr>
          <a:xfrm>
            <a:off x="32609161" y="25109100"/>
            <a:ext cx="10223337" cy="7644143"/>
            <a:chOff x="32609161" y="24155356"/>
            <a:chExt cx="10223337" cy="7644143"/>
          </a:xfrm>
        </p:grpSpPr>
        <p:sp>
          <p:nvSpPr>
            <p:cNvPr id="56" name="TextBox 55">
              <a:extLst>
                <a:ext uri="{FF2B5EF4-FFF2-40B4-BE49-F238E27FC236}">
                  <a16:creationId xmlns:a16="http://schemas.microsoft.com/office/drawing/2014/main" id="{860A63F1-1CB8-A305-4F5B-BC887AB2F353}"/>
                </a:ext>
              </a:extLst>
            </p:cNvPr>
            <p:cNvSpPr txBox="1"/>
            <p:nvPr/>
          </p:nvSpPr>
          <p:spPr>
            <a:xfrm>
              <a:off x="33383913" y="25674745"/>
              <a:ext cx="9448585" cy="6124754"/>
            </a:xfrm>
            <a:prstGeom prst="rect">
              <a:avLst/>
            </a:prstGeom>
            <a:noFill/>
          </p:spPr>
          <p:txBody>
            <a:bodyPr wrap="square" rtlCol="0">
              <a:spAutoFit/>
            </a:bodyPr>
            <a:lstStyle/>
            <a:p>
              <a:r>
                <a:rPr lang="en-CA" sz="2800" dirty="0"/>
                <a:t>Du, D., Castillo-Veneros, L., Cottrill, D., Cui, G., Stankus, P., </a:t>
              </a:r>
              <a:r>
                <a:rPr lang="en-CA" sz="2800" dirty="0" err="1"/>
                <a:t>Katramatos</a:t>
              </a:r>
              <a:r>
                <a:rPr lang="en-CA" sz="2800" dirty="0"/>
                <a:t>, D., Martínez-Rincón, J., &amp; Figueroa, E. (2021). A long-distance quantum-capable internet testbed. </a:t>
              </a:r>
              <a:r>
                <a:rPr lang="en-CA" sz="2800" i="1" dirty="0" err="1"/>
                <a:t>arXiv</a:t>
              </a:r>
              <a:r>
                <a:rPr lang="en-CA" sz="2800" i="1" dirty="0"/>
                <a:t> (Cornell University)</a:t>
              </a:r>
              <a:r>
                <a:rPr lang="en-CA" sz="2800" dirty="0"/>
                <a:t>. https://</a:t>
              </a:r>
              <a:r>
                <a:rPr lang="en-CA" sz="2800" dirty="0" err="1"/>
                <a:t>doi.org</a:t>
              </a:r>
              <a:r>
                <a:rPr lang="en-CA" sz="2800" dirty="0"/>
                <a:t>/10.48550/arxiv.2101.12742</a:t>
              </a:r>
            </a:p>
            <a:p>
              <a:endParaRPr lang="en-CA" sz="2800" dirty="0"/>
            </a:p>
            <a:p>
              <a:r>
                <a:rPr lang="en-CA" sz="2800" dirty="0"/>
                <a:t>Canada’s most extensive network coverage. Our Network | Bell Wholesale. (n.d.). https://</a:t>
              </a:r>
              <a:r>
                <a:rPr lang="en-CA" sz="2800" dirty="0" err="1"/>
                <a:t>wholesale.bell.ca</a:t>
              </a:r>
              <a:r>
                <a:rPr lang="en-CA" sz="2800" dirty="0"/>
                <a:t>/our-network </a:t>
              </a:r>
            </a:p>
            <a:p>
              <a:endParaRPr lang="en-CA" sz="2800" dirty="0"/>
            </a:p>
            <a:p>
              <a:r>
                <a:rPr lang="en-CA" sz="2800" dirty="0"/>
                <a:t>MacRae, A., &amp; Kupchak, C. (2026). Propagation dynamics and transient amplification in warm and cold atomic EIT systems. </a:t>
              </a:r>
              <a:r>
                <a:rPr lang="en-CA" sz="2800" i="1" dirty="0"/>
                <a:t>Optics Communications</a:t>
              </a:r>
              <a:r>
                <a:rPr lang="en-CA" sz="2800" dirty="0"/>
                <a:t>, </a:t>
              </a:r>
              <a:r>
                <a:rPr lang="en-CA" sz="2800" i="1" dirty="0"/>
                <a:t>606</a:t>
              </a:r>
              <a:r>
                <a:rPr lang="en-CA" sz="2800" dirty="0"/>
                <a:t>, 132893. https://</a:t>
              </a:r>
              <a:r>
                <a:rPr lang="en-CA" sz="2800" dirty="0" err="1"/>
                <a:t>doi.org</a:t>
              </a:r>
              <a:r>
                <a:rPr lang="en-CA" sz="2800" dirty="0"/>
                <a:t>/10.1016/j.optcom.2026.132893</a:t>
              </a:r>
            </a:p>
            <a:p>
              <a:endParaRPr lang="en-US" sz="2800" dirty="0">
                <a:cs typeface="Times New Roman" panose="02020603050405020304" pitchFamily="18" charset="0"/>
              </a:endParaRPr>
            </a:p>
            <a:p>
              <a:endParaRPr lang="en-US" sz="2800" dirty="0">
                <a:cs typeface="Times New Roman" panose="02020603050405020304" pitchFamily="18" charset="0"/>
              </a:endParaRPr>
            </a:p>
          </p:txBody>
        </p:sp>
        <p:sp>
          <p:nvSpPr>
            <p:cNvPr id="57" name="TextBox 56">
              <a:extLst>
                <a:ext uri="{FF2B5EF4-FFF2-40B4-BE49-F238E27FC236}">
                  <a16:creationId xmlns:a16="http://schemas.microsoft.com/office/drawing/2014/main" id="{EB682715-B106-DCAE-0AD1-466C41AC0D75}"/>
                </a:ext>
              </a:extLst>
            </p:cNvPr>
            <p:cNvSpPr txBox="1"/>
            <p:nvPr/>
          </p:nvSpPr>
          <p:spPr>
            <a:xfrm>
              <a:off x="32618942" y="25666101"/>
              <a:ext cx="695498" cy="3970318"/>
            </a:xfrm>
            <a:prstGeom prst="rect">
              <a:avLst/>
            </a:prstGeom>
            <a:noFill/>
          </p:spPr>
          <p:txBody>
            <a:bodyPr wrap="square" rtlCol="0">
              <a:spAutoFit/>
            </a:bodyPr>
            <a:lstStyle/>
            <a:p>
              <a:r>
                <a:rPr lang="en-US" sz="2800" dirty="0">
                  <a:cs typeface="Times New Roman" panose="02020603050405020304" pitchFamily="18" charset="0"/>
                </a:rPr>
                <a:t>[1]:</a:t>
              </a:r>
            </a:p>
            <a:p>
              <a:endParaRPr lang="en-US" sz="2800" dirty="0">
                <a:cs typeface="Times New Roman" panose="02020603050405020304" pitchFamily="18" charset="0"/>
              </a:endParaRPr>
            </a:p>
            <a:p>
              <a:endParaRPr lang="en-US" sz="2800" dirty="0">
                <a:cs typeface="Times New Roman" panose="02020603050405020304" pitchFamily="18" charset="0"/>
              </a:endParaRPr>
            </a:p>
            <a:p>
              <a:endParaRPr lang="en-US" sz="2800" dirty="0">
                <a:cs typeface="Times New Roman" panose="02020603050405020304" pitchFamily="18" charset="0"/>
              </a:endParaRPr>
            </a:p>
            <a:p>
              <a:endParaRPr lang="en-US" sz="2800" dirty="0">
                <a:cs typeface="Times New Roman" panose="02020603050405020304" pitchFamily="18" charset="0"/>
              </a:endParaRPr>
            </a:p>
            <a:p>
              <a:r>
                <a:rPr lang="en-US" sz="2800" dirty="0">
                  <a:cs typeface="Times New Roman" panose="02020603050405020304" pitchFamily="18" charset="0"/>
                </a:rPr>
                <a:t>[2]:</a:t>
              </a:r>
            </a:p>
            <a:p>
              <a:endParaRPr lang="en-US" sz="2800" dirty="0">
                <a:cs typeface="Times New Roman" panose="02020603050405020304" pitchFamily="18" charset="0"/>
              </a:endParaRPr>
            </a:p>
            <a:p>
              <a:endParaRPr lang="en-US" sz="2800" dirty="0">
                <a:cs typeface="Times New Roman" panose="02020603050405020304" pitchFamily="18" charset="0"/>
              </a:endParaRPr>
            </a:p>
            <a:p>
              <a:r>
                <a:rPr lang="en-US" sz="2800" dirty="0">
                  <a:cs typeface="Times New Roman" panose="02020603050405020304" pitchFamily="18" charset="0"/>
                </a:rPr>
                <a:t>[3]:</a:t>
              </a:r>
            </a:p>
          </p:txBody>
        </p:sp>
        <p:sp>
          <p:nvSpPr>
            <p:cNvPr id="59" name="Text Placeholder 87">
              <a:extLst>
                <a:ext uri="{FF2B5EF4-FFF2-40B4-BE49-F238E27FC236}">
                  <a16:creationId xmlns:a16="http://schemas.microsoft.com/office/drawing/2014/main" id="{E0638D35-CD0C-E391-7B69-4E1807CB6A46}"/>
                </a:ext>
              </a:extLst>
            </p:cNvPr>
            <p:cNvSpPr txBox="1">
              <a:spLocks/>
            </p:cNvSpPr>
            <p:nvPr/>
          </p:nvSpPr>
          <p:spPr>
            <a:xfrm>
              <a:off x="32609161" y="24155356"/>
              <a:ext cx="10223337" cy="1107988"/>
            </a:xfrm>
            <a:prstGeom prst="rect">
              <a:avLst/>
            </a:prstGeom>
            <a:solidFill>
              <a:schemeClr val="tx2">
                <a:lumMod val="75000"/>
              </a:schemeClr>
            </a:solidFill>
            <a:ln w="9525">
              <a:solidFill>
                <a:schemeClr val="accent1">
                  <a:shade val="15000"/>
                </a:schemeClr>
              </a:solidFill>
            </a:ln>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6000" u="none" dirty="0">
                  <a:solidFill>
                    <a:schemeClr val="bg2"/>
                  </a:solidFill>
                </a:rPr>
                <a:t>References</a:t>
              </a:r>
            </a:p>
          </p:txBody>
        </p:sp>
      </p:grpSp>
      <p:sp>
        <p:nvSpPr>
          <p:cNvPr id="61" name="TextBox 60">
            <a:extLst>
              <a:ext uri="{FF2B5EF4-FFF2-40B4-BE49-F238E27FC236}">
                <a16:creationId xmlns:a16="http://schemas.microsoft.com/office/drawing/2014/main" id="{A6D9BA98-20D3-D483-5182-F6E153E2AB96}"/>
              </a:ext>
            </a:extLst>
          </p:cNvPr>
          <p:cNvSpPr txBox="1"/>
          <p:nvPr/>
        </p:nvSpPr>
        <p:spPr>
          <a:xfrm>
            <a:off x="1058700" y="8722919"/>
            <a:ext cx="10223336" cy="5262979"/>
          </a:xfrm>
          <a:prstGeom prst="rect">
            <a:avLst/>
          </a:prstGeom>
          <a:noFill/>
        </p:spPr>
        <p:txBody>
          <a:bodyPr wrap="square" rtlCol="0">
            <a:spAutoFit/>
          </a:bodyPr>
          <a:lstStyle/>
          <a:p>
            <a:r>
              <a:rPr lang="en-US" sz="2800" dirty="0">
                <a:cs typeface="Times New Roman" panose="02020603050405020304" pitchFamily="18" charset="0"/>
              </a:rPr>
              <a:t>There are existing fiber optic networks all over the world which can transport optically encoded information at the speed of light.</a:t>
            </a:r>
          </a:p>
          <a:p>
            <a:endParaRPr lang="en-US" sz="2800" dirty="0">
              <a:cs typeface="Times New Roman" panose="02020603050405020304" pitchFamily="18" charset="0"/>
            </a:endParaRPr>
          </a:p>
          <a:p>
            <a:r>
              <a:rPr lang="en-US" sz="2800" dirty="0">
                <a:cs typeface="Times New Roman" panose="02020603050405020304" pitchFamily="18" charset="0"/>
              </a:rPr>
              <a:t>Current methods for encoding quantum information in optical beams produce photons at wavelengths not compatible with current infrastructure.</a:t>
            </a:r>
          </a:p>
          <a:p>
            <a:endParaRPr lang="en-US" sz="2800" dirty="0">
              <a:cs typeface="Times New Roman" panose="02020603050405020304" pitchFamily="18" charset="0"/>
            </a:endParaRPr>
          </a:p>
          <a:p>
            <a:r>
              <a:rPr lang="en-US" sz="2800" dirty="0">
                <a:cs typeface="Times New Roman" panose="02020603050405020304" pitchFamily="18" charset="0"/>
              </a:rPr>
              <a:t>To rapidly deploy a quantum internet across Canada and the world, a cost effective and reliable method for converting optically-encoded continuous-variable quantum information to telecom-compatible wavelengths is required[1].</a:t>
            </a:r>
          </a:p>
          <a:p>
            <a:endParaRPr lang="en-US" sz="2800" dirty="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3" name="TextBox 62">
                <a:extLst>
                  <a:ext uri="{FF2B5EF4-FFF2-40B4-BE49-F238E27FC236}">
                    <a16:creationId xmlns:a16="http://schemas.microsoft.com/office/drawing/2014/main" id="{F6053135-4746-E00A-D631-43D663C923BA}"/>
                  </a:ext>
                </a:extLst>
              </p:cNvPr>
              <p:cNvSpPr txBox="1"/>
              <p:nvPr/>
            </p:nvSpPr>
            <p:spPr>
              <a:xfrm>
                <a:off x="993617" y="22180144"/>
                <a:ext cx="10223336" cy="9756517"/>
              </a:xfrm>
              <a:prstGeom prst="rect">
                <a:avLst/>
              </a:prstGeom>
              <a:noFill/>
            </p:spPr>
            <p:txBody>
              <a:bodyPr wrap="square" rtlCol="0">
                <a:spAutoFit/>
              </a:bodyPr>
              <a:lstStyle/>
              <a:p>
                <a:r>
                  <a:rPr lang="en-US" sz="2800" dirty="0">
                    <a:cs typeface="Times New Roman" panose="02020603050405020304" pitchFamily="18" charset="0"/>
                  </a:rPr>
                  <a:t>A potential candidate is hot rubidium-87 gas which may be able to convert information encoded in a 795 nm beam (which can be produced with modern techniques) to a 1530 nm beam (which is within the window of the telecom</a:t>
                </a:r>
              </a:p>
              <a:p>
                <a:r>
                  <a:rPr lang="en-US" sz="2800" dirty="0">
                    <a:cs typeface="Times New Roman" panose="02020603050405020304" pitchFamily="18" charset="0"/>
                  </a:rPr>
                  <a:t>C-band).</a:t>
                </a:r>
              </a:p>
              <a:p>
                <a:endParaRPr lang="en-US" sz="2800" dirty="0">
                  <a:cs typeface="Times New Roman" panose="02020603050405020304" pitchFamily="18" charset="0"/>
                </a:endParaRPr>
              </a:p>
              <a:p>
                <a:r>
                  <a:rPr lang="en-US" sz="2800" dirty="0">
                    <a:cs typeface="Times New Roman" panose="02020603050405020304" pitchFamily="18" charset="0"/>
                  </a:rPr>
                  <a:t>The wavelength-conversion happens via optical </a:t>
                </a:r>
                <a:r>
                  <a:rPr lang="en-US" sz="2800" b="1" i="1" dirty="0">
                    <a:cs typeface="Times New Roman" panose="02020603050405020304" pitchFamily="18" charset="0"/>
                  </a:rPr>
                  <a:t>Four Wave Mixing </a:t>
                </a:r>
                <a:r>
                  <a:rPr lang="en-US" sz="2800" dirty="0">
                    <a:cs typeface="Times New Roman" panose="02020603050405020304" pitchFamily="18" charset="0"/>
                  </a:rPr>
                  <a:t>and can be resonantly enhanced via </a:t>
                </a:r>
                <a:r>
                  <a:rPr lang="en-US" sz="2800" b="1" i="1" dirty="0">
                    <a:cs typeface="Times New Roman" panose="02020603050405020304" pitchFamily="18" charset="0"/>
                  </a:rPr>
                  <a:t>Cavity Electromagnetically Induced Transparency</a:t>
                </a:r>
                <a:r>
                  <a:rPr lang="en-US" sz="2800" b="1" dirty="0">
                    <a:cs typeface="Times New Roman" panose="02020603050405020304" pitchFamily="18" charset="0"/>
                  </a:rPr>
                  <a:t> </a:t>
                </a:r>
                <a:r>
                  <a:rPr lang="en-US" sz="2800" dirty="0">
                    <a:cs typeface="Times New Roman" panose="02020603050405020304" pitchFamily="18" charset="0"/>
                  </a:rPr>
                  <a:t>at the telecom wavelength.</a:t>
                </a:r>
              </a:p>
              <a:p>
                <a:endParaRPr lang="en-US" sz="2800" dirty="0">
                  <a:cs typeface="Times New Roman" panose="02020603050405020304" pitchFamily="18" charset="0"/>
                </a:endParaRPr>
              </a:p>
              <a:p>
                <a:r>
                  <a:rPr lang="en-US" sz="2800" b="1" i="1" dirty="0">
                    <a:cs typeface="Times New Roman" panose="02020603050405020304" pitchFamily="18" charset="0"/>
                  </a:rPr>
                  <a:t>Four Wave Mixing </a:t>
                </a:r>
                <a:r>
                  <a:rPr lang="en-US" sz="2800" dirty="0">
                    <a:cs typeface="Times New Roman" panose="02020603050405020304" pitchFamily="18" charset="0"/>
                  </a:rPr>
                  <a:t>involves driving an atomic sample by multiple beams to induce the emission of a separate beam of </a:t>
                </a:r>
                <a:r>
                  <a:rPr lang="en-US" sz="2800" b="1" i="1" dirty="0">
                    <a:cs typeface="Times New Roman" panose="02020603050405020304" pitchFamily="18" charset="0"/>
                  </a:rPr>
                  <a:t>Squeezed Light </a:t>
                </a:r>
                <a:r>
                  <a:rPr lang="en-US" sz="2800" dirty="0">
                    <a:cs typeface="Times New Roman" panose="02020603050405020304" pitchFamily="18" charset="0"/>
                  </a:rPr>
                  <a:t>such that the conservation equation and momentum conservation equations are satisfied.</a:t>
                </a:r>
              </a:p>
              <a:p>
                <a:endParaRPr lang="en-US" sz="1200" dirty="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l-GR" sz="2800" b="0" i="1" smtClean="0">
                              <a:latin typeface="Cambria Math" panose="02040503050406030204" pitchFamily="18" charset="0"/>
                              <a:cs typeface="Times New Roman" panose="02020603050405020304" pitchFamily="18" charset="0"/>
                            </a:rPr>
                          </m:ctrlPr>
                        </m:sSubPr>
                        <m:e>
                          <m:r>
                            <a:rPr lang="el-GR" sz="2800" b="0" i="1" smtClean="0">
                              <a:latin typeface="Cambria Math" panose="02040503050406030204" pitchFamily="18" charset="0"/>
                              <a:cs typeface="Times New Roman" panose="02020603050405020304" pitchFamily="18" charset="0"/>
                            </a:rPr>
                            <m:t>𝜔</m:t>
                          </m:r>
                        </m:e>
                        <m:sub>
                          <m:r>
                            <a:rPr lang="en-CA" sz="2800" b="0" i="1" smtClean="0">
                              <a:latin typeface="Cambria Math" panose="02040503050406030204" pitchFamily="18" charset="0"/>
                              <a:cs typeface="Times New Roman" panose="02020603050405020304" pitchFamily="18" charset="0"/>
                            </a:rPr>
                            <m:t>𝑠</m:t>
                          </m:r>
                        </m:sub>
                      </m:sSub>
                      <m:r>
                        <a:rPr lang="el-GR" sz="2800" b="0" i="1" smtClean="0">
                          <a:latin typeface="Cambria Math" panose="02040503050406030204" pitchFamily="18" charset="0"/>
                          <a:cs typeface="Times New Roman" panose="02020603050405020304" pitchFamily="18" charset="0"/>
                        </a:rPr>
                        <m:t>+</m:t>
                      </m:r>
                      <m:sSub>
                        <m:sSubPr>
                          <m:ctrlPr>
                            <a:rPr lang="el-GR" sz="2800" b="0" i="1" smtClean="0">
                              <a:latin typeface="Cambria Math" panose="02040503050406030204" pitchFamily="18" charset="0"/>
                              <a:cs typeface="Times New Roman" panose="02020603050405020304" pitchFamily="18" charset="0"/>
                            </a:rPr>
                          </m:ctrlPr>
                        </m:sSubPr>
                        <m:e>
                          <m:r>
                            <a:rPr lang="el-GR" sz="2800" b="0" i="1" smtClean="0">
                              <a:latin typeface="Cambria Math" panose="02040503050406030204" pitchFamily="18" charset="0"/>
                              <a:cs typeface="Times New Roman" panose="02020603050405020304" pitchFamily="18" charset="0"/>
                            </a:rPr>
                            <m:t>𝜔</m:t>
                          </m:r>
                        </m:e>
                        <m:sub>
                          <m:r>
                            <m:rPr>
                              <m:sty m:val="p"/>
                            </m:rPr>
                            <a:rPr lang="en-CA" sz="2800" b="0" i="0" smtClean="0">
                              <a:latin typeface="Cambria Math" panose="02040503050406030204" pitchFamily="18" charset="0"/>
                              <a:cs typeface="Times New Roman" panose="02020603050405020304" pitchFamily="18" charset="0"/>
                            </a:rPr>
                            <m:t>II</m:t>
                          </m:r>
                        </m:sub>
                      </m:sSub>
                      <m:r>
                        <a:rPr lang="el-GR" sz="2800" b="0" i="1" smtClean="0">
                          <a:latin typeface="Cambria Math" panose="02040503050406030204" pitchFamily="18" charset="0"/>
                          <a:cs typeface="Times New Roman" panose="02020603050405020304" pitchFamily="18" charset="0"/>
                        </a:rPr>
                        <m:t>=</m:t>
                      </m:r>
                      <m:sSub>
                        <m:sSubPr>
                          <m:ctrlPr>
                            <a:rPr lang="el-GR" sz="2800" b="0" i="1" smtClean="0">
                              <a:latin typeface="Cambria Math" panose="02040503050406030204" pitchFamily="18" charset="0"/>
                              <a:cs typeface="Times New Roman" panose="02020603050405020304" pitchFamily="18" charset="0"/>
                            </a:rPr>
                          </m:ctrlPr>
                        </m:sSubPr>
                        <m:e>
                          <m:r>
                            <a:rPr lang="el-GR" sz="2800" b="0" i="1" smtClean="0">
                              <a:latin typeface="Cambria Math" panose="02040503050406030204" pitchFamily="18" charset="0"/>
                              <a:cs typeface="Times New Roman" panose="02020603050405020304" pitchFamily="18" charset="0"/>
                            </a:rPr>
                            <m:t>𝜔</m:t>
                          </m:r>
                        </m:e>
                        <m:sub>
                          <m:r>
                            <a:rPr lang="en-CA" sz="2800" b="0" i="1" smtClean="0">
                              <a:latin typeface="Cambria Math" panose="02040503050406030204" pitchFamily="18" charset="0"/>
                              <a:cs typeface="Times New Roman" panose="02020603050405020304" pitchFamily="18" charset="0"/>
                            </a:rPr>
                            <m:t>𝑡</m:t>
                          </m:r>
                        </m:sub>
                      </m:sSub>
                      <m:r>
                        <a:rPr lang="el-GR" sz="2800" b="0" i="1" smtClean="0">
                          <a:latin typeface="Cambria Math" panose="02040503050406030204" pitchFamily="18" charset="0"/>
                          <a:cs typeface="Times New Roman" panose="02020603050405020304" pitchFamily="18" charset="0"/>
                        </a:rPr>
                        <m:t>+</m:t>
                      </m:r>
                      <m:sSub>
                        <m:sSubPr>
                          <m:ctrlPr>
                            <a:rPr lang="el-GR" sz="2800" b="0" i="1" smtClean="0">
                              <a:latin typeface="Cambria Math" panose="02040503050406030204" pitchFamily="18" charset="0"/>
                              <a:cs typeface="Times New Roman" panose="02020603050405020304" pitchFamily="18" charset="0"/>
                            </a:rPr>
                          </m:ctrlPr>
                        </m:sSubPr>
                        <m:e>
                          <m:r>
                            <a:rPr lang="el-GR" sz="2800" b="0" i="1" smtClean="0">
                              <a:latin typeface="Cambria Math" panose="02040503050406030204" pitchFamily="18" charset="0"/>
                              <a:cs typeface="Times New Roman" panose="02020603050405020304" pitchFamily="18" charset="0"/>
                            </a:rPr>
                            <m:t>𝜔</m:t>
                          </m:r>
                        </m:e>
                        <m:sub>
                          <m:r>
                            <a:rPr lang="en-CA" sz="2800" b="0" i="1" smtClean="0">
                              <a:latin typeface="Cambria Math" panose="02040503050406030204" pitchFamily="18" charset="0"/>
                              <a:cs typeface="Times New Roman" panose="02020603050405020304" pitchFamily="18" charset="0"/>
                            </a:rPr>
                            <m:t>𝐼</m:t>
                          </m:r>
                        </m:sub>
                      </m:sSub>
                    </m:oMath>
                  </m:oMathPara>
                </a14:m>
                <a:endParaRPr lang="en-US" sz="2800" dirty="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CA" sz="2800" b="0" i="1" smtClean="0">
                              <a:latin typeface="Cambria Math" panose="02040503050406030204" pitchFamily="18" charset="0"/>
                              <a:cs typeface="Times New Roman" panose="02020603050405020304" pitchFamily="18" charset="0"/>
                            </a:rPr>
                          </m:ctrlPr>
                        </m:sSubPr>
                        <m:e>
                          <m:r>
                            <a:rPr lang="en-CA" sz="2800" b="0" i="1" smtClean="0">
                              <a:latin typeface="Cambria Math" panose="02040503050406030204" pitchFamily="18" charset="0"/>
                              <a:cs typeface="Times New Roman" panose="02020603050405020304" pitchFamily="18" charset="0"/>
                            </a:rPr>
                            <m:t>𝑘</m:t>
                          </m:r>
                        </m:e>
                        <m:sub>
                          <m:r>
                            <a:rPr lang="en-CA" sz="2800" b="0" i="1" smtClean="0">
                              <a:latin typeface="Cambria Math" panose="02040503050406030204" pitchFamily="18" charset="0"/>
                              <a:cs typeface="Times New Roman" panose="02020603050405020304" pitchFamily="18" charset="0"/>
                            </a:rPr>
                            <m:t>𝑠</m:t>
                          </m:r>
                        </m:sub>
                      </m:sSub>
                      <m:r>
                        <a:rPr lang="en-CA" sz="2800" b="0" i="1" smtClean="0">
                          <a:latin typeface="Cambria Math" panose="02040503050406030204" pitchFamily="18" charset="0"/>
                          <a:cs typeface="Times New Roman" panose="02020603050405020304" pitchFamily="18" charset="0"/>
                        </a:rPr>
                        <m:t>+</m:t>
                      </m:r>
                      <m:sSub>
                        <m:sSubPr>
                          <m:ctrlPr>
                            <a:rPr lang="en-CA" sz="2800" b="0" i="1" smtClean="0">
                              <a:latin typeface="Cambria Math" panose="02040503050406030204" pitchFamily="18" charset="0"/>
                              <a:cs typeface="Times New Roman" panose="02020603050405020304" pitchFamily="18" charset="0"/>
                            </a:rPr>
                          </m:ctrlPr>
                        </m:sSubPr>
                        <m:e>
                          <m:r>
                            <a:rPr lang="en-CA" sz="2800" b="0" i="1" smtClean="0">
                              <a:latin typeface="Cambria Math" panose="02040503050406030204" pitchFamily="18" charset="0"/>
                              <a:cs typeface="Times New Roman" panose="02020603050405020304" pitchFamily="18" charset="0"/>
                            </a:rPr>
                            <m:t>𝑘</m:t>
                          </m:r>
                        </m:e>
                        <m:sub>
                          <m:r>
                            <a:rPr lang="en-CA" sz="2800" b="0" i="1" smtClean="0">
                              <a:latin typeface="Cambria Math" panose="02040503050406030204" pitchFamily="18" charset="0"/>
                              <a:cs typeface="Times New Roman" panose="02020603050405020304" pitchFamily="18" charset="0"/>
                            </a:rPr>
                            <m:t>𝑡</m:t>
                          </m:r>
                        </m:sub>
                      </m:sSub>
                      <m:r>
                        <a:rPr lang="en-CA" sz="2800" b="0" i="1" smtClean="0">
                          <a:latin typeface="Cambria Math" panose="02040503050406030204" pitchFamily="18" charset="0"/>
                          <a:cs typeface="Times New Roman" panose="02020603050405020304" pitchFamily="18" charset="0"/>
                        </a:rPr>
                        <m:t>+</m:t>
                      </m:r>
                      <m:sSub>
                        <m:sSubPr>
                          <m:ctrlPr>
                            <a:rPr lang="en-CA" sz="2800" b="0" i="1" smtClean="0">
                              <a:latin typeface="Cambria Math" panose="02040503050406030204" pitchFamily="18" charset="0"/>
                              <a:cs typeface="Times New Roman" panose="02020603050405020304" pitchFamily="18" charset="0"/>
                            </a:rPr>
                          </m:ctrlPr>
                        </m:sSubPr>
                        <m:e>
                          <m:r>
                            <a:rPr lang="en-CA" sz="2800" b="0" i="1" smtClean="0">
                              <a:latin typeface="Cambria Math" panose="02040503050406030204" pitchFamily="18" charset="0"/>
                              <a:cs typeface="Times New Roman" panose="02020603050405020304" pitchFamily="18" charset="0"/>
                            </a:rPr>
                            <m:t>𝑘</m:t>
                          </m:r>
                        </m:e>
                        <m:sub>
                          <m:r>
                            <a:rPr lang="en-CA" sz="2800" b="0" i="1" smtClean="0">
                              <a:latin typeface="Cambria Math" panose="02040503050406030204" pitchFamily="18" charset="0"/>
                              <a:cs typeface="Times New Roman" panose="02020603050405020304" pitchFamily="18" charset="0"/>
                            </a:rPr>
                            <m:t>𝐼</m:t>
                          </m:r>
                        </m:sub>
                      </m:sSub>
                      <m:r>
                        <a:rPr lang="en-CA" sz="2800" b="0" i="1" smtClean="0">
                          <a:latin typeface="Cambria Math" panose="02040503050406030204" pitchFamily="18" charset="0"/>
                          <a:cs typeface="Times New Roman" panose="02020603050405020304" pitchFamily="18" charset="0"/>
                        </a:rPr>
                        <m:t>+</m:t>
                      </m:r>
                      <m:sSub>
                        <m:sSubPr>
                          <m:ctrlPr>
                            <a:rPr lang="en-CA" sz="2800" b="0" i="1" smtClean="0">
                              <a:latin typeface="Cambria Math" panose="02040503050406030204" pitchFamily="18" charset="0"/>
                              <a:cs typeface="Times New Roman" panose="02020603050405020304" pitchFamily="18" charset="0"/>
                            </a:rPr>
                          </m:ctrlPr>
                        </m:sSubPr>
                        <m:e>
                          <m:r>
                            <a:rPr lang="en-CA" sz="2800" b="0" i="1" smtClean="0">
                              <a:latin typeface="Cambria Math" panose="02040503050406030204" pitchFamily="18" charset="0"/>
                              <a:cs typeface="Times New Roman" panose="02020603050405020304" pitchFamily="18" charset="0"/>
                            </a:rPr>
                            <m:t>𝑘</m:t>
                          </m:r>
                        </m:e>
                        <m:sub>
                          <m:r>
                            <a:rPr lang="en-CA" sz="2800" b="0" i="1" smtClean="0">
                              <a:latin typeface="Cambria Math" panose="02040503050406030204" pitchFamily="18" charset="0"/>
                              <a:cs typeface="Times New Roman" panose="02020603050405020304" pitchFamily="18" charset="0"/>
                            </a:rPr>
                            <m:t>𝐼𝐼</m:t>
                          </m:r>
                        </m:sub>
                      </m:sSub>
                      <m:r>
                        <a:rPr lang="en-CA" sz="2800" b="0" i="1" smtClean="0">
                          <a:latin typeface="Cambria Math" panose="02040503050406030204" pitchFamily="18" charset="0"/>
                          <a:cs typeface="Times New Roman" panose="02020603050405020304" pitchFamily="18" charset="0"/>
                        </a:rPr>
                        <m:t>=0</m:t>
                      </m:r>
                    </m:oMath>
                  </m:oMathPara>
                </a14:m>
                <a:endParaRPr lang="en-CA" sz="2800" b="0" dirty="0">
                  <a:cs typeface="Times New Roman" panose="02020603050405020304" pitchFamily="18" charset="0"/>
                </a:endParaRPr>
              </a:p>
              <a:p>
                <a:endParaRPr lang="en-CA" sz="2800" dirty="0">
                  <a:cs typeface="Times New Roman" panose="02020603050405020304" pitchFamily="18" charset="0"/>
                </a:endParaRPr>
              </a:p>
              <a:p>
                <a:r>
                  <a:rPr lang="en-CA" sz="2800" b="1" i="1" dirty="0">
                    <a:cs typeface="Times New Roman" panose="02020603050405020304" pitchFamily="18" charset="0"/>
                  </a:rPr>
                  <a:t>Cavity </a:t>
                </a:r>
                <a:r>
                  <a:rPr lang="en-US" sz="2800" b="1" i="1" dirty="0">
                    <a:cs typeface="Times New Roman" panose="02020603050405020304" pitchFamily="18" charset="0"/>
                  </a:rPr>
                  <a:t>Electromagnetically Induced Transparency </a:t>
                </a:r>
                <a:r>
                  <a:rPr lang="en-US" sz="2800" dirty="0">
                    <a:cs typeface="Times New Roman" panose="02020603050405020304" pitchFamily="18" charset="0"/>
                  </a:rPr>
                  <a:t>involves driving the atomic sample within an enhancing resonant cavity such that beams interfere to produce a polarization field which allows one frequency of light to pass through the medium with minimal losses.</a:t>
                </a:r>
              </a:p>
              <a:p>
                <a:endParaRPr lang="en-US" sz="2800" dirty="0">
                  <a:cs typeface="Times New Roman" panose="02020603050405020304" pitchFamily="18" charset="0"/>
                </a:endParaRPr>
              </a:p>
            </p:txBody>
          </p:sp>
        </mc:Choice>
        <mc:Fallback>
          <p:sp>
            <p:nvSpPr>
              <p:cNvPr id="63" name="TextBox 62">
                <a:extLst>
                  <a:ext uri="{FF2B5EF4-FFF2-40B4-BE49-F238E27FC236}">
                    <a16:creationId xmlns:a16="http://schemas.microsoft.com/office/drawing/2014/main" id="{F6053135-4746-E00A-D631-43D663C923BA}"/>
                  </a:ext>
                </a:extLst>
              </p:cNvPr>
              <p:cNvSpPr txBox="1">
                <a:spLocks noRot="1" noChangeAspect="1" noMove="1" noResize="1" noEditPoints="1" noAdjustHandles="1" noChangeArrowheads="1" noChangeShapeType="1" noTextEdit="1"/>
              </p:cNvSpPr>
              <p:nvPr/>
            </p:nvSpPr>
            <p:spPr>
              <a:xfrm>
                <a:off x="993617" y="22180144"/>
                <a:ext cx="10223336" cy="9756517"/>
              </a:xfrm>
              <a:prstGeom prst="rect">
                <a:avLst/>
              </a:prstGeom>
              <a:blipFill>
                <a:blip r:embed="rId5"/>
                <a:stretch>
                  <a:fillRect l="-1241" t="-650"/>
                </a:stretch>
              </a:blipFill>
            </p:spPr>
            <p:txBody>
              <a:bodyPr/>
              <a:lstStyle/>
              <a:p>
                <a:r>
                  <a:rPr lang="en-US">
                    <a:noFill/>
                  </a:rPr>
                  <a:t> </a:t>
                </a:r>
              </a:p>
            </p:txBody>
          </p:sp>
        </mc:Fallback>
      </mc:AlternateContent>
      <p:sp>
        <p:nvSpPr>
          <p:cNvPr id="82" name="TextBox 81">
            <a:extLst>
              <a:ext uri="{FF2B5EF4-FFF2-40B4-BE49-F238E27FC236}">
                <a16:creationId xmlns:a16="http://schemas.microsoft.com/office/drawing/2014/main" id="{B176AB42-FBA1-08E3-3D4E-0D3519B57A1C}"/>
              </a:ext>
            </a:extLst>
          </p:cNvPr>
          <p:cNvSpPr txBox="1"/>
          <p:nvPr/>
        </p:nvSpPr>
        <p:spPr>
          <a:xfrm>
            <a:off x="13243864" y="8689710"/>
            <a:ext cx="16700804" cy="1384995"/>
          </a:xfrm>
          <a:prstGeom prst="rect">
            <a:avLst/>
          </a:prstGeom>
          <a:noFill/>
        </p:spPr>
        <p:txBody>
          <a:bodyPr wrap="square" rtlCol="0">
            <a:spAutoFit/>
          </a:bodyPr>
          <a:lstStyle/>
          <a:p>
            <a:r>
              <a:rPr lang="en-US" sz="2800" dirty="0">
                <a:cs typeface="Times New Roman" panose="02020603050405020304" pitchFamily="18" charset="0"/>
              </a:rPr>
              <a:t>We must computationally model the quantum transitions of a hot gas composed of 4-level Diamond-Configuration atoms driven by multiple lasers tuned near-resonance of atomic transitions: two pump lasers stimulating transitions and one signal laser encoded with quantum information.</a:t>
            </a:r>
            <a:endParaRPr lang="en-US" sz="2800" dirty="0">
              <a:latin typeface="Times New Roman" panose="02020603050405020304" pitchFamily="18" charset="0"/>
              <a:cs typeface="Times New Roman" panose="02020603050405020304" pitchFamily="18" charset="0"/>
            </a:endParaRPr>
          </a:p>
        </p:txBody>
      </p:sp>
      <p:grpSp>
        <p:nvGrpSpPr>
          <p:cNvPr id="86" name="Group 85">
            <a:extLst>
              <a:ext uri="{FF2B5EF4-FFF2-40B4-BE49-F238E27FC236}">
                <a16:creationId xmlns:a16="http://schemas.microsoft.com/office/drawing/2014/main" id="{4CF619AE-3D5D-BEB3-DAF1-94CEBD801E34}"/>
              </a:ext>
            </a:extLst>
          </p:cNvPr>
          <p:cNvGrpSpPr/>
          <p:nvPr/>
        </p:nvGrpSpPr>
        <p:grpSpPr>
          <a:xfrm>
            <a:off x="14212368" y="11413458"/>
            <a:ext cx="6763997" cy="6327712"/>
            <a:chOff x="14578730" y="12027630"/>
            <a:chExt cx="6763997" cy="6327712"/>
          </a:xfrm>
        </p:grpSpPr>
        <p:pic>
          <p:nvPicPr>
            <p:cNvPr id="46" name="Picture 45" descr="A black background with a black square&#10;&#10;AI-generated content may be incorrect.">
              <a:extLst>
                <a:ext uri="{FF2B5EF4-FFF2-40B4-BE49-F238E27FC236}">
                  <a16:creationId xmlns:a16="http://schemas.microsoft.com/office/drawing/2014/main" id="{DF34535B-9423-8B9E-35AE-58DCFF377C0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578730" y="12027630"/>
              <a:ext cx="6646911" cy="5113008"/>
            </a:xfrm>
            <a:prstGeom prst="rect">
              <a:avLst/>
            </a:prstGeom>
          </p:spPr>
        </p:pic>
        <p:sp>
          <p:nvSpPr>
            <p:cNvPr id="84" name="TextBox 83">
              <a:extLst>
                <a:ext uri="{FF2B5EF4-FFF2-40B4-BE49-F238E27FC236}">
                  <a16:creationId xmlns:a16="http://schemas.microsoft.com/office/drawing/2014/main" id="{5D42B8FF-F5CB-5C73-C3FF-A94CE4922565}"/>
                </a:ext>
              </a:extLst>
            </p:cNvPr>
            <p:cNvSpPr txBox="1"/>
            <p:nvPr/>
          </p:nvSpPr>
          <p:spPr>
            <a:xfrm>
              <a:off x="14695816" y="17401235"/>
              <a:ext cx="6646911" cy="954107"/>
            </a:xfrm>
            <a:prstGeom prst="rect">
              <a:avLst/>
            </a:prstGeom>
            <a:noFill/>
          </p:spPr>
          <p:txBody>
            <a:bodyPr wrap="square" rtlCol="0">
              <a:spAutoFit/>
            </a:bodyPr>
            <a:lstStyle/>
            <a:p>
              <a:r>
                <a:rPr lang="en-US" sz="2800" dirty="0">
                  <a:cs typeface="Times New Roman" panose="02020603050405020304" pitchFamily="18" charset="0"/>
                </a:rPr>
                <a:t>Fig. 2 – Diamond-Configuration Atomic Transition Structure.</a:t>
              </a:r>
            </a:p>
          </p:txBody>
        </p:sp>
      </p:gr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36A35118-79EA-D942-A2E4-35ED54B566D6}"/>
                  </a:ext>
                </a:extLst>
              </p:cNvPr>
              <p:cNvSpPr txBox="1"/>
              <p:nvPr/>
            </p:nvSpPr>
            <p:spPr>
              <a:xfrm>
                <a:off x="13243864" y="21276817"/>
                <a:ext cx="17439568" cy="954107"/>
              </a:xfrm>
              <a:prstGeom prst="rect">
                <a:avLst/>
              </a:prstGeom>
              <a:noFill/>
            </p:spPr>
            <p:txBody>
              <a:bodyPr wrap="square" rtlCol="0">
                <a:spAutoFit/>
              </a:bodyPr>
              <a:lstStyle/>
              <a:p>
                <a:r>
                  <a:rPr lang="en-US" sz="2800" dirty="0">
                    <a:cs typeface="Times New Roman" panose="02020603050405020304" pitchFamily="18" charset="0"/>
                  </a:rPr>
                  <a:t>The objective is to use the following Hamiltonian describing the interaction between the atoms and the external fields, with atomic velocities </a:t>
                </a:r>
                <a14:m>
                  <m:oMath xmlns:m="http://schemas.openxmlformats.org/officeDocument/2006/math">
                    <m:sSub>
                      <m:sSubPr>
                        <m:ctrlPr>
                          <a:rPr lang="en-US" sz="2800" i="1" smtClean="0">
                            <a:latin typeface="Cambria Math" panose="02040503050406030204" pitchFamily="18" charset="0"/>
                            <a:cs typeface="Times New Roman" panose="02020603050405020304" pitchFamily="18" charset="0"/>
                          </a:rPr>
                        </m:ctrlPr>
                      </m:sSubPr>
                      <m:e>
                        <m:acc>
                          <m:accPr>
                            <m:chr m:val="⃑"/>
                            <m:ctrlPr>
                              <a:rPr lang="en-US" sz="2800" i="1">
                                <a:latin typeface="Cambria Math" panose="02040503050406030204" pitchFamily="18" charset="0"/>
                                <a:cs typeface="Times New Roman" panose="02020603050405020304" pitchFamily="18" charset="0"/>
                              </a:rPr>
                            </m:ctrlPr>
                          </m:accPr>
                          <m:e>
                            <m:r>
                              <a:rPr lang="en-CA" sz="2800" i="1">
                                <a:latin typeface="Cambria Math" panose="02040503050406030204" pitchFamily="18" charset="0"/>
                                <a:cs typeface="Times New Roman" panose="02020603050405020304" pitchFamily="18" charset="0"/>
                              </a:rPr>
                              <m:t>𝑣</m:t>
                            </m:r>
                          </m:e>
                        </m:acc>
                      </m:e>
                      <m:sub>
                        <m:r>
                          <a:rPr lang="en-CA" sz="2800" b="0" i="1" smtClean="0">
                            <a:latin typeface="Cambria Math" panose="02040503050406030204" pitchFamily="18" charset="0"/>
                            <a:cs typeface="Times New Roman" panose="02020603050405020304" pitchFamily="18" charset="0"/>
                          </a:rPr>
                          <m:t>𝑖</m:t>
                        </m:r>
                      </m:sub>
                    </m:sSub>
                  </m:oMath>
                </a14:m>
                <a:r>
                  <a:rPr lang="en-US" sz="2800" dirty="0">
                    <a:cs typeface="Times New Roman" panose="02020603050405020304" pitchFamily="18" charset="0"/>
                  </a:rPr>
                  <a:t> distributed as a </a:t>
                </a:r>
                <a:r>
                  <a:rPr lang="en-US" sz="2800" b="1" i="1" dirty="0">
                    <a:cs typeface="Times New Roman" panose="02020603050405020304" pitchFamily="18" charset="0"/>
                  </a:rPr>
                  <a:t>Multivariate Normal Distribution </a:t>
                </a:r>
                <a:r>
                  <a:rPr lang="en-US" sz="2800" dirty="0">
                    <a:cs typeface="Times New Roman" panose="02020603050405020304" pitchFamily="18" charset="0"/>
                  </a:rPr>
                  <a:t>which results in </a:t>
                </a:r>
                <a:r>
                  <a:rPr lang="en-US" sz="2800" b="1" i="1" dirty="0">
                    <a:cs typeface="Times New Roman" panose="02020603050405020304" pitchFamily="18" charset="0"/>
                  </a:rPr>
                  <a:t>Doppler Broadening</a:t>
                </a:r>
                <a:r>
                  <a:rPr lang="en-US" sz="2800" dirty="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mc:Choice>
        <mc:Fallback xmlns="">
          <p:sp>
            <p:nvSpPr>
              <p:cNvPr id="91" name="TextBox 90">
                <a:extLst>
                  <a:ext uri="{FF2B5EF4-FFF2-40B4-BE49-F238E27FC236}">
                    <a16:creationId xmlns:a16="http://schemas.microsoft.com/office/drawing/2014/main" id="{36A35118-79EA-D942-A2E4-35ED54B566D6}"/>
                  </a:ext>
                </a:extLst>
              </p:cNvPr>
              <p:cNvSpPr txBox="1">
                <a:spLocks noRot="1" noChangeAspect="1" noMove="1" noResize="1" noEditPoints="1" noAdjustHandles="1" noChangeArrowheads="1" noChangeShapeType="1" noTextEdit="1"/>
              </p:cNvSpPr>
              <p:nvPr/>
            </p:nvSpPr>
            <p:spPr>
              <a:xfrm>
                <a:off x="13243864" y="21276817"/>
                <a:ext cx="17439568" cy="954107"/>
              </a:xfrm>
              <a:prstGeom prst="rect">
                <a:avLst/>
              </a:prstGeom>
              <a:blipFill>
                <a:blip r:embed="rId7"/>
                <a:stretch>
                  <a:fillRect l="-801" t="-6579" r="-218"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A4D11902-412F-B8EB-8123-8E1B6E17D5A1}"/>
                  </a:ext>
                </a:extLst>
              </p:cNvPr>
              <p:cNvSpPr txBox="1"/>
              <p:nvPr/>
            </p:nvSpPr>
            <p:spPr>
              <a:xfrm>
                <a:off x="13225084" y="25548425"/>
                <a:ext cx="17439568" cy="1384995"/>
              </a:xfrm>
              <a:prstGeom prst="rect">
                <a:avLst/>
              </a:prstGeom>
              <a:noFill/>
            </p:spPr>
            <p:txBody>
              <a:bodyPr wrap="square" rtlCol="0">
                <a:spAutoFit/>
              </a:bodyPr>
              <a:lstStyle/>
              <a:p>
                <a:r>
                  <a:rPr lang="en-US" sz="2800" dirty="0">
                    <a:cs typeface="Times New Roman" panose="02020603050405020304" pitchFamily="18" charset="0"/>
                  </a:rPr>
                  <a:t>This is done by solving the </a:t>
                </a:r>
                <a:r>
                  <a:rPr lang="en-US" sz="2800" b="1" i="1" dirty="0">
                    <a:cs typeface="Times New Roman" panose="02020603050405020304" pitchFamily="18" charset="0"/>
                  </a:rPr>
                  <a:t>Lindblad Master Equation </a:t>
                </a:r>
                <a:r>
                  <a:rPr lang="en-US" sz="2800" dirty="0">
                    <a:cs typeface="Times New Roman" panose="02020603050405020304" pitchFamily="18" charset="0"/>
                  </a:rPr>
                  <a:t>(below) for the steady state dynamics (in particular</a:t>
                </a:r>
                <a:r>
                  <a:rPr lang="el-GR" sz="2800" dirty="0">
                    <a:cs typeface="Times New Roman" panose="02020603050405020304" pitchFamily="18" charset="0"/>
                  </a:rPr>
                  <a:t>,</a:t>
                </a:r>
                <a:r>
                  <a:rPr lang="en-US" sz="2800" dirty="0">
                    <a:cs typeface="Times New Roman" panose="02020603050405020304" pitchFamily="18" charset="0"/>
                  </a:rPr>
                  <a:t> values of </a:t>
                </a:r>
                <a14:m>
                  <m:oMath xmlns:m="http://schemas.openxmlformats.org/officeDocument/2006/math">
                    <m:sSub>
                      <m:sSubPr>
                        <m:ctrlPr>
                          <a:rPr lang="el-GR" sz="2800" b="0" i="1" smtClean="0">
                            <a:latin typeface="Cambria Math" panose="02040503050406030204" pitchFamily="18" charset="0"/>
                            <a:cs typeface="Times New Roman" panose="02020603050405020304" pitchFamily="18" charset="0"/>
                          </a:rPr>
                        </m:ctrlPr>
                      </m:sSubPr>
                      <m:e>
                        <m:r>
                          <a:rPr lang="el-GR" sz="2800" b="0" i="1" smtClean="0">
                            <a:latin typeface="Cambria Math" panose="02040503050406030204" pitchFamily="18" charset="0"/>
                            <a:cs typeface="Times New Roman" panose="02020603050405020304" pitchFamily="18" charset="0"/>
                          </a:rPr>
                          <m:t>𝜌</m:t>
                        </m:r>
                      </m:e>
                      <m:sub>
                        <m:r>
                          <a:rPr lang="el-GR" sz="2800" b="0" i="1" smtClean="0">
                            <a:latin typeface="Cambria Math" panose="02040503050406030204" pitchFamily="18" charset="0"/>
                            <a:cs typeface="Times New Roman" panose="02020603050405020304" pitchFamily="18" charset="0"/>
                          </a:rPr>
                          <m:t>13</m:t>
                        </m:r>
                      </m:sub>
                    </m:sSub>
                  </m:oMath>
                </a14:m>
                <a:r>
                  <a:rPr lang="el-GR" sz="2800" dirty="0">
                    <a:cs typeface="Times New Roman" panose="02020603050405020304" pitchFamily="18" charset="0"/>
                  </a:rPr>
                  <a:t> </a:t>
                </a:r>
                <a:r>
                  <a:rPr lang="en-CA" sz="2800" dirty="0">
                    <a:cs typeface="Times New Roman" panose="02020603050405020304" pitchFamily="18" charset="0"/>
                  </a:rPr>
                  <a:t>and </a:t>
                </a:r>
                <a14:m>
                  <m:oMath xmlns:m="http://schemas.openxmlformats.org/officeDocument/2006/math">
                    <m:sSub>
                      <m:sSubPr>
                        <m:ctrlPr>
                          <a:rPr lang="en-CA" sz="2800" i="1" smtClean="0">
                            <a:latin typeface="Cambria Math" panose="02040503050406030204" pitchFamily="18" charset="0"/>
                            <a:cs typeface="Times New Roman" panose="02020603050405020304" pitchFamily="18" charset="0"/>
                          </a:rPr>
                        </m:ctrlPr>
                      </m:sSubPr>
                      <m:e>
                        <m:r>
                          <a:rPr lang="el-GR" sz="2800" b="0" i="1" smtClean="0">
                            <a:latin typeface="Cambria Math" panose="02040503050406030204" pitchFamily="18" charset="0"/>
                            <a:cs typeface="Times New Roman" panose="02020603050405020304" pitchFamily="18" charset="0"/>
                          </a:rPr>
                          <m:t>𝜌</m:t>
                        </m:r>
                      </m:e>
                      <m:sub>
                        <m:r>
                          <a:rPr lang="el-GR" sz="2800" b="0" i="1" smtClean="0">
                            <a:latin typeface="Cambria Math" panose="02040503050406030204" pitchFamily="18" charset="0"/>
                            <a:cs typeface="Times New Roman" panose="02020603050405020304" pitchFamily="18" charset="0"/>
                          </a:rPr>
                          <m:t>24</m:t>
                        </m:r>
                      </m:sub>
                    </m:sSub>
                  </m:oMath>
                </a14:m>
                <a:r>
                  <a:rPr lang="en-US" sz="2800" dirty="0">
                    <a:cs typeface="Times New Roman" panose="02020603050405020304" pitchFamily="18" charset="0"/>
                  </a:rPr>
                  <a:t>) of the system at various hyper-parameter configurations to find when </a:t>
                </a:r>
                <a:r>
                  <a:rPr lang="en-US" sz="2800" b="1" i="1" dirty="0">
                    <a:cs typeface="Times New Roman" panose="02020603050405020304" pitchFamily="18" charset="0"/>
                  </a:rPr>
                  <a:t>Electromagnetically Induced Transparency </a:t>
                </a:r>
                <a:r>
                  <a:rPr lang="en-US" sz="2800" dirty="0">
                    <a:cs typeface="Times New Roman" panose="02020603050405020304" pitchFamily="18" charset="0"/>
                  </a:rPr>
                  <a:t>and </a:t>
                </a:r>
                <a:r>
                  <a:rPr lang="en-US" sz="2800" b="1" i="1" dirty="0">
                    <a:cs typeface="Times New Roman" panose="02020603050405020304" pitchFamily="18" charset="0"/>
                  </a:rPr>
                  <a:t>Four Wave Mixing </a:t>
                </a:r>
                <a:r>
                  <a:rPr lang="en-US" sz="2800" dirty="0">
                    <a:cs typeface="Times New Roman" panose="02020603050405020304" pitchFamily="18" charset="0"/>
                  </a:rPr>
                  <a:t>phenomena occur simultaneously to generate </a:t>
                </a:r>
                <a:r>
                  <a:rPr lang="en-US" sz="2800" b="1" i="1" dirty="0">
                    <a:cs typeface="Times New Roman" panose="02020603050405020304" pitchFamily="18" charset="0"/>
                  </a:rPr>
                  <a:t>Squeezed Light</a:t>
                </a:r>
                <a:r>
                  <a:rPr lang="en-US" sz="2800" dirty="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mc:Choice>
        <mc:Fallback xmlns="">
          <p:sp>
            <p:nvSpPr>
              <p:cNvPr id="111" name="TextBox 110">
                <a:extLst>
                  <a:ext uri="{FF2B5EF4-FFF2-40B4-BE49-F238E27FC236}">
                    <a16:creationId xmlns:a16="http://schemas.microsoft.com/office/drawing/2014/main" id="{A4D11902-412F-B8EB-8123-8E1B6E17D5A1}"/>
                  </a:ext>
                </a:extLst>
              </p:cNvPr>
              <p:cNvSpPr txBox="1">
                <a:spLocks noRot="1" noChangeAspect="1" noMove="1" noResize="1" noEditPoints="1" noAdjustHandles="1" noChangeArrowheads="1" noChangeShapeType="1" noTextEdit="1"/>
              </p:cNvSpPr>
              <p:nvPr/>
            </p:nvSpPr>
            <p:spPr>
              <a:xfrm>
                <a:off x="13225084" y="25548425"/>
                <a:ext cx="17439568" cy="1384995"/>
              </a:xfrm>
              <a:prstGeom prst="rect">
                <a:avLst/>
              </a:prstGeom>
              <a:blipFill>
                <a:blip r:embed="rId8"/>
                <a:stretch>
                  <a:fillRect l="-728" t="-4545" b="-11818"/>
                </a:stretch>
              </a:blipFill>
            </p:spPr>
            <p:txBody>
              <a:bodyPr/>
              <a:lstStyle/>
              <a:p>
                <a:r>
                  <a:rPr lang="en-US">
                    <a:noFill/>
                  </a:rPr>
                  <a:t> </a:t>
                </a:r>
              </a:p>
            </p:txBody>
          </p:sp>
        </mc:Fallback>
      </mc:AlternateContent>
      <p:sp>
        <p:nvSpPr>
          <p:cNvPr id="122" name="TextBox 121">
            <a:extLst>
              <a:ext uri="{FF2B5EF4-FFF2-40B4-BE49-F238E27FC236}">
                <a16:creationId xmlns:a16="http://schemas.microsoft.com/office/drawing/2014/main" id="{649773CB-8B14-053E-7591-7A3732936F6F}"/>
              </a:ext>
            </a:extLst>
          </p:cNvPr>
          <p:cNvSpPr txBox="1"/>
          <p:nvPr/>
        </p:nvSpPr>
        <p:spPr>
          <a:xfrm>
            <a:off x="13243864" y="28353315"/>
            <a:ext cx="17439568" cy="954107"/>
          </a:xfrm>
          <a:prstGeom prst="rect">
            <a:avLst/>
          </a:prstGeom>
          <a:noFill/>
        </p:spPr>
        <p:txBody>
          <a:bodyPr wrap="square" rtlCol="0">
            <a:spAutoFit/>
          </a:bodyPr>
          <a:lstStyle/>
          <a:p>
            <a:r>
              <a:rPr lang="en-CA" sz="2800" dirty="0">
                <a:cs typeface="Times New Roman" panose="02020603050405020304" pitchFamily="18" charset="0"/>
              </a:rPr>
              <a:t>These steady state values are then applied to Maxwell’s equations in a co-propagating frame to form the </a:t>
            </a:r>
            <a:r>
              <a:rPr lang="en-CA" sz="2800" b="1" i="1" dirty="0">
                <a:cs typeface="Times New Roman" panose="02020603050405020304" pitchFamily="18" charset="0"/>
              </a:rPr>
              <a:t>Maxwell-Bloch Equations </a:t>
            </a:r>
            <a:r>
              <a:rPr lang="en-CA" sz="2800" dirty="0">
                <a:cs typeface="Times New Roman" panose="02020603050405020304" pitchFamily="18" charset="0"/>
              </a:rPr>
              <a:t>yielding strength of the telecom-wavelength field envelope as it propagates through the medium [3].</a:t>
            </a:r>
            <a:endParaRPr lang="en-US" sz="2800" dirty="0">
              <a:latin typeface="Times New Roman" panose="02020603050405020304" pitchFamily="18" charset="0"/>
              <a:cs typeface="Times New Roman" panose="02020603050405020304" pitchFamily="18" charset="0"/>
            </a:endParaRPr>
          </a:p>
        </p:txBody>
      </p:sp>
      <p:sp>
        <p:nvSpPr>
          <p:cNvPr id="124" name="TextBox 123">
            <a:extLst>
              <a:ext uri="{FF2B5EF4-FFF2-40B4-BE49-F238E27FC236}">
                <a16:creationId xmlns:a16="http://schemas.microsoft.com/office/drawing/2014/main" id="{4D1D9670-DAD4-DAAA-2A47-A94E626A0309}"/>
              </a:ext>
            </a:extLst>
          </p:cNvPr>
          <p:cNvSpPr txBox="1"/>
          <p:nvPr/>
        </p:nvSpPr>
        <p:spPr>
          <a:xfrm>
            <a:off x="13353550" y="18708298"/>
            <a:ext cx="17439568" cy="1384995"/>
          </a:xfrm>
          <a:prstGeom prst="rect">
            <a:avLst/>
          </a:prstGeom>
          <a:noFill/>
        </p:spPr>
        <p:txBody>
          <a:bodyPr wrap="square" rtlCol="0">
            <a:spAutoFit/>
          </a:bodyPr>
          <a:lstStyle/>
          <a:p>
            <a:r>
              <a:rPr lang="en-CA" sz="2800" dirty="0">
                <a:cs typeface="Times New Roman" panose="02020603050405020304" pitchFamily="18" charset="0"/>
              </a:rPr>
              <a:t>The overarching goal is to find system parameterizations which induce nonlinear optical processes to create quantum optical correlations known as </a:t>
            </a:r>
            <a:r>
              <a:rPr lang="en-CA" sz="2800" b="1" i="1" dirty="0">
                <a:cs typeface="Times New Roman" panose="02020603050405020304" pitchFamily="18" charset="0"/>
              </a:rPr>
              <a:t>Squeezed Light</a:t>
            </a:r>
            <a:r>
              <a:rPr lang="en-CA" sz="2800" dirty="0">
                <a:cs typeface="Times New Roman" panose="02020603050405020304" pitchFamily="18" charset="0"/>
              </a:rPr>
              <a:t>, which is light with reduced uncertainty in one quadrature (amplitude or phase) but increased uncertainty in the other such that the </a:t>
            </a:r>
            <a:r>
              <a:rPr lang="en-CA" sz="2800" b="1" i="1" dirty="0">
                <a:cs typeface="Times New Roman" panose="02020603050405020304" pitchFamily="18" charset="0"/>
              </a:rPr>
              <a:t>Generalized Uncertainty Principle </a:t>
            </a:r>
            <a:r>
              <a:rPr lang="en-CA" sz="2800" dirty="0">
                <a:cs typeface="Times New Roman" panose="02020603050405020304" pitchFamily="18" charset="0"/>
              </a:rPr>
              <a:t>is still observed.</a:t>
            </a:r>
            <a:endParaRPr lang="en-US" sz="2800" b="1" i="1" dirty="0">
              <a:latin typeface="Times New Roman" panose="02020603050405020304" pitchFamily="18" charset="0"/>
              <a:cs typeface="Times New Roman" panose="02020603050405020304" pitchFamily="18" charset="0"/>
            </a:endParaRPr>
          </a:p>
        </p:txBody>
      </p:sp>
      <p:sp>
        <p:nvSpPr>
          <p:cNvPr id="125" name="TextBox 124">
            <a:extLst>
              <a:ext uri="{FF2B5EF4-FFF2-40B4-BE49-F238E27FC236}">
                <a16:creationId xmlns:a16="http://schemas.microsoft.com/office/drawing/2014/main" id="{4681DD0E-3050-42AD-1343-799352638596}"/>
              </a:ext>
            </a:extLst>
          </p:cNvPr>
          <p:cNvSpPr txBox="1"/>
          <p:nvPr/>
        </p:nvSpPr>
        <p:spPr>
          <a:xfrm>
            <a:off x="13353549" y="30604208"/>
            <a:ext cx="17875177" cy="954107"/>
          </a:xfrm>
          <a:prstGeom prst="rect">
            <a:avLst/>
          </a:prstGeom>
          <a:noFill/>
        </p:spPr>
        <p:txBody>
          <a:bodyPr wrap="square" rtlCol="0">
            <a:spAutoFit/>
          </a:bodyPr>
          <a:lstStyle/>
          <a:p>
            <a:r>
              <a:rPr lang="en-CA" sz="2800" dirty="0">
                <a:cs typeface="Times New Roman" panose="02020603050405020304" pitchFamily="18" charset="0"/>
              </a:rPr>
              <a:t>This gives us a theoretical value for the </a:t>
            </a:r>
            <a:r>
              <a:rPr lang="en-CA" sz="2800" b="1" i="1" dirty="0">
                <a:cs typeface="Times New Roman" panose="02020603050405020304" pitchFamily="18" charset="0"/>
              </a:rPr>
              <a:t>Conversion Efficiency </a:t>
            </a:r>
            <a:r>
              <a:rPr lang="en-CA" sz="2800" dirty="0">
                <a:cs typeface="Times New Roman" panose="02020603050405020304" pitchFamily="18" charset="0"/>
              </a:rPr>
              <a:t>of the signal beam to the telecom-wavelength transmission beam, and a high </a:t>
            </a:r>
            <a:r>
              <a:rPr lang="en-CA" sz="2800" b="1" i="1" dirty="0">
                <a:cs typeface="Times New Roman" panose="02020603050405020304" pitchFamily="18" charset="0"/>
              </a:rPr>
              <a:t>Squeezing Amplitude </a:t>
            </a:r>
            <a:r>
              <a:rPr lang="en-CA" sz="2800" dirty="0">
                <a:cs typeface="Times New Roman" panose="02020603050405020304" pitchFamily="18" charset="0"/>
              </a:rPr>
              <a:t>makes the quantum information less prone to random fluctuations.</a:t>
            </a:r>
            <a:endParaRPr lang="en-US" sz="2800" dirty="0">
              <a:latin typeface="Times New Roman" panose="02020603050405020304" pitchFamily="18" charset="0"/>
              <a:cs typeface="Times New Roman" panose="02020603050405020304" pitchFamily="18" charset="0"/>
            </a:endParaRPr>
          </a:p>
        </p:txBody>
      </p:sp>
      <p:pic>
        <p:nvPicPr>
          <p:cNvPr id="127" name="Picture 126" descr="A black background with white text&#10;&#10;AI-generated content may be incorrect.">
            <a:extLst>
              <a:ext uri="{FF2B5EF4-FFF2-40B4-BE49-F238E27FC236}">
                <a16:creationId xmlns:a16="http://schemas.microsoft.com/office/drawing/2014/main" id="{9CEC22F1-DC59-7E37-103A-F1524373CF0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9594611" y="20242135"/>
            <a:ext cx="4634234" cy="954107"/>
          </a:xfrm>
          <a:prstGeom prst="rect">
            <a:avLst/>
          </a:prstGeom>
        </p:spPr>
      </p:pic>
      <p:grpSp>
        <p:nvGrpSpPr>
          <p:cNvPr id="25" name="Group 24">
            <a:extLst>
              <a:ext uri="{FF2B5EF4-FFF2-40B4-BE49-F238E27FC236}">
                <a16:creationId xmlns:a16="http://schemas.microsoft.com/office/drawing/2014/main" id="{EC0D86D6-6C66-B0B2-2ADD-F7C500C72833}"/>
              </a:ext>
            </a:extLst>
          </p:cNvPr>
          <p:cNvGrpSpPr/>
          <p:nvPr/>
        </p:nvGrpSpPr>
        <p:grpSpPr>
          <a:xfrm>
            <a:off x="32618942" y="19171237"/>
            <a:ext cx="10400120" cy="6017813"/>
            <a:chOff x="32609160" y="19489747"/>
            <a:chExt cx="10400120" cy="6017813"/>
          </a:xfrm>
        </p:grpSpPr>
        <p:sp>
          <p:nvSpPr>
            <p:cNvPr id="112" name="Text Placeholder 87">
              <a:extLst>
                <a:ext uri="{FF2B5EF4-FFF2-40B4-BE49-F238E27FC236}">
                  <a16:creationId xmlns:a16="http://schemas.microsoft.com/office/drawing/2014/main" id="{889EE364-3344-E46C-B64B-7182667F444F}"/>
                </a:ext>
              </a:extLst>
            </p:cNvPr>
            <p:cNvSpPr txBox="1">
              <a:spLocks/>
            </p:cNvSpPr>
            <p:nvPr/>
          </p:nvSpPr>
          <p:spPr>
            <a:xfrm>
              <a:off x="32609160" y="19489747"/>
              <a:ext cx="10223337" cy="1107988"/>
            </a:xfrm>
            <a:prstGeom prst="rect">
              <a:avLst/>
            </a:prstGeom>
            <a:solidFill>
              <a:schemeClr val="tx2">
                <a:lumMod val="75000"/>
              </a:schemeClr>
            </a:solidFill>
            <a:ln w="9525">
              <a:solidFill>
                <a:schemeClr val="accent1">
                  <a:shade val="15000"/>
                </a:schemeClr>
              </a:solidFill>
            </a:ln>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6000" u="none" dirty="0">
                  <a:solidFill>
                    <a:schemeClr val="bg2"/>
                  </a:solidFill>
                </a:rPr>
                <a:t>Legend</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E08E22C-88A5-1D18-CF6F-07604030EE23}"/>
                    </a:ext>
                  </a:extLst>
                </p:cNvPr>
                <p:cNvSpPr txBox="1"/>
                <p:nvPr/>
              </p:nvSpPr>
              <p:spPr>
                <a:xfrm>
                  <a:off x="32785943" y="21000492"/>
                  <a:ext cx="10223337" cy="4507068"/>
                </a:xfrm>
                <a:prstGeom prst="rect">
                  <a:avLst/>
                </a:prstGeom>
                <a:noFill/>
              </p:spPr>
              <p:txBody>
                <a:bodyPr wrap="square" rtlCol="0">
                  <a:spAutoFit/>
                </a:bodyPr>
                <a:lstStyle/>
                <a:p>
                  <a14:m>
                    <m:oMath xmlns:m="http://schemas.openxmlformats.org/officeDocument/2006/math">
                      <m:r>
                        <a:rPr lang="el-GR" sz="2800" b="0" i="1" smtClean="0">
                          <a:latin typeface="Cambria Math" panose="02040503050406030204" pitchFamily="18" charset="0"/>
                          <a:cs typeface="Times New Roman" panose="02020603050405020304" pitchFamily="18" charset="0"/>
                        </a:rPr>
                        <m:t>𝜔</m:t>
                      </m:r>
                      <m:r>
                        <a:rPr lang="el-GR" sz="28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CA" sz="2800" b="0" i="0" dirty="0">
                      <a:latin typeface="Cambria Math" panose="02040503050406030204" pitchFamily="18" charset="0"/>
                      <a:cs typeface="Times New Roman" panose="02020603050405020304" pitchFamily="18" charset="0"/>
                    </a:rPr>
                    <a:t> </a:t>
                  </a:r>
                  <a:r>
                    <a:rPr lang="en-CA" sz="2800" dirty="0">
                      <a:cs typeface="Times New Roman" panose="02020603050405020304" pitchFamily="18" charset="0"/>
                    </a:rPr>
                    <a:t>Electromagnetic Field Frequency or Transition Frequency</a:t>
                  </a:r>
                  <a:endParaRPr lang="en-CA" sz="2800" b="0" i="0" dirty="0">
                    <a:cs typeface="Times New Roman" panose="02020603050405020304" pitchFamily="18" charset="0"/>
                  </a:endParaRPr>
                </a:p>
                <a:p>
                  <a14:m>
                    <m:oMath xmlns:m="http://schemas.openxmlformats.org/officeDocument/2006/math">
                      <m:r>
                        <m:rPr>
                          <m:sty m:val="p"/>
                        </m:rPr>
                        <a:rPr lang="el-GR" sz="2800" b="0" i="0" smtClean="0">
                          <a:latin typeface="Cambria Math" panose="02040503050406030204" pitchFamily="18" charset="0"/>
                          <a:cs typeface="Times New Roman" panose="02020603050405020304" pitchFamily="18" charset="0"/>
                        </a:rPr>
                        <m:t>Ω</m:t>
                      </m:r>
                      <m:r>
                        <a:rPr lang="el-GR" sz="28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l-GR" sz="2800" dirty="0">
                      <a:cs typeface="Times New Roman" panose="02020603050405020304" pitchFamily="18" charset="0"/>
                    </a:rPr>
                    <a:t> </a:t>
                  </a:r>
                  <a:r>
                    <a:rPr lang="en-CA" sz="2800" dirty="0">
                      <a:cs typeface="Times New Roman" panose="02020603050405020304" pitchFamily="18" charset="0"/>
                    </a:rPr>
                    <a:t>Rabi Frequency</a:t>
                  </a:r>
                </a:p>
                <a:p>
                  <a14:m>
                    <m:oMath xmlns:m="http://schemas.openxmlformats.org/officeDocument/2006/math">
                      <m:acc>
                        <m:accPr>
                          <m:chr m:val="⃑"/>
                          <m:ctrlPr>
                            <a:rPr lang="en-CA" sz="2800" i="1" smtClean="0">
                              <a:latin typeface="Cambria Math" panose="02040503050406030204" pitchFamily="18" charset="0"/>
                              <a:cs typeface="Times New Roman" panose="02020603050405020304" pitchFamily="18" charset="0"/>
                            </a:rPr>
                          </m:ctrlPr>
                        </m:accPr>
                        <m:e>
                          <m:r>
                            <a:rPr lang="en-CA" sz="2800" b="0" i="1" smtClean="0">
                              <a:latin typeface="Cambria Math" panose="02040503050406030204" pitchFamily="18" charset="0"/>
                              <a:cs typeface="Times New Roman" panose="02020603050405020304" pitchFamily="18" charset="0"/>
                            </a:rPr>
                            <m:t>𝑘</m:t>
                          </m:r>
                        </m:e>
                      </m:acc>
                      <m:r>
                        <a:rPr lang="en-CA" sz="28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CA" sz="2800" dirty="0">
                      <a:cs typeface="Times New Roman" panose="02020603050405020304" pitchFamily="18" charset="0"/>
                    </a:rPr>
                    <a:t> Electromagnetic Field Wavevector</a:t>
                  </a:r>
                </a:p>
                <a:p>
                  <a14:m>
                    <m:oMath xmlns:m="http://schemas.openxmlformats.org/officeDocument/2006/math">
                      <m:acc>
                        <m:accPr>
                          <m:chr m:val="̂"/>
                          <m:ctrlPr>
                            <a:rPr lang="en-CA" sz="2800" b="0" i="1" smtClean="0">
                              <a:latin typeface="Cambria Math" panose="02040503050406030204" pitchFamily="18" charset="0"/>
                              <a:cs typeface="Times New Roman" panose="02020603050405020304" pitchFamily="18" charset="0"/>
                            </a:rPr>
                          </m:ctrlPr>
                        </m:accPr>
                        <m:e>
                          <m:r>
                            <a:rPr lang="en-CA" sz="2800" b="0" i="1" smtClean="0">
                              <a:latin typeface="Cambria Math" panose="02040503050406030204" pitchFamily="18" charset="0"/>
                              <a:cs typeface="Times New Roman" panose="02020603050405020304" pitchFamily="18" charset="0"/>
                            </a:rPr>
                            <m:t>𝑎</m:t>
                          </m:r>
                        </m:e>
                      </m:acc>
                      <m:r>
                        <a:rPr lang="en-CA" sz="2800" i="1">
                          <a:latin typeface="Cambria Math" panose="02040503050406030204" pitchFamily="18" charset="0"/>
                          <a:ea typeface="Cambria Math" panose="02040503050406030204" pitchFamily="18" charset="0"/>
                          <a:cs typeface="Times New Roman" panose="02020603050405020304" pitchFamily="18" charset="0"/>
                        </a:rPr>
                        <m:t>≡</m:t>
                      </m:r>
                    </m:oMath>
                  </a14:m>
                  <a:r>
                    <a:rPr lang="en-CA" sz="2800" dirty="0">
                      <a:cs typeface="Times New Roman" panose="02020603050405020304" pitchFamily="18" charset="0"/>
                    </a:rPr>
                    <a:t> Annihilation Operator of Signal Field</a:t>
                  </a:r>
                </a:p>
                <a:p>
                  <a14:m>
                    <m:oMath xmlns:m="http://schemas.openxmlformats.org/officeDocument/2006/math">
                      <m:acc>
                        <m:accPr>
                          <m:chr m:val="̂"/>
                          <m:ctrlPr>
                            <a:rPr lang="en-CA" sz="2800" i="1">
                              <a:latin typeface="Cambria Math" panose="02040503050406030204" pitchFamily="18" charset="0"/>
                              <a:cs typeface="Times New Roman" panose="02020603050405020304" pitchFamily="18" charset="0"/>
                            </a:rPr>
                          </m:ctrlPr>
                        </m:accPr>
                        <m:e>
                          <m:r>
                            <a:rPr lang="en-CA" sz="2800" b="0" i="1" smtClean="0">
                              <a:latin typeface="Cambria Math" panose="02040503050406030204" pitchFamily="18" charset="0"/>
                              <a:cs typeface="Times New Roman" panose="02020603050405020304" pitchFamily="18" charset="0"/>
                            </a:rPr>
                            <m:t>𝑏</m:t>
                          </m:r>
                        </m:e>
                      </m:acc>
                      <m:r>
                        <a:rPr lang="en-CA" sz="2800" i="1">
                          <a:latin typeface="Cambria Math" panose="02040503050406030204" pitchFamily="18" charset="0"/>
                          <a:ea typeface="Cambria Math" panose="02040503050406030204" pitchFamily="18" charset="0"/>
                          <a:cs typeface="Times New Roman" panose="02020603050405020304" pitchFamily="18" charset="0"/>
                        </a:rPr>
                        <m:t>≡</m:t>
                      </m:r>
                    </m:oMath>
                  </a14:m>
                  <a:r>
                    <a:rPr lang="en-CA" sz="2800" dirty="0">
                      <a:cs typeface="Times New Roman" panose="02020603050405020304" pitchFamily="18" charset="0"/>
                    </a:rPr>
                    <a:t> Annihilation Operator of Telecom-Wavelength Idler Field</a:t>
                  </a:r>
                </a:p>
                <a:p>
                  <a14:m>
                    <m:oMath xmlns:m="http://schemas.openxmlformats.org/officeDocument/2006/math">
                      <m:acc>
                        <m:accPr>
                          <m:chr m:val="̂"/>
                          <m:ctrlPr>
                            <a:rPr lang="el-GR" sz="2800" b="0" i="1" smtClean="0">
                              <a:latin typeface="Cambria Math" panose="02040503050406030204" pitchFamily="18" charset="0"/>
                              <a:cs typeface="Times New Roman" panose="02020603050405020304" pitchFamily="18" charset="0"/>
                            </a:rPr>
                          </m:ctrlPr>
                        </m:accPr>
                        <m:e>
                          <m:r>
                            <a:rPr lang="el-GR" sz="2800" b="0" i="1" smtClean="0">
                              <a:latin typeface="Cambria Math" panose="02040503050406030204" pitchFamily="18" charset="0"/>
                              <a:cs typeface="Times New Roman" panose="02020603050405020304" pitchFamily="18" charset="0"/>
                            </a:rPr>
                            <m:t>𝜌</m:t>
                          </m:r>
                        </m:e>
                      </m:acc>
                      <m:r>
                        <a:rPr lang="el-GR" sz="28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CA" sz="2800" dirty="0">
                      <a:cs typeface="Times New Roman" panose="02020603050405020304" pitchFamily="18" charset="0"/>
                    </a:rPr>
                    <a:t> Density Matrix</a:t>
                  </a:r>
                </a:p>
                <a:p>
                  <a14:m>
                    <m:oMath xmlns:m="http://schemas.openxmlformats.org/officeDocument/2006/math">
                      <m:sSub>
                        <m:sSubPr>
                          <m:ctrlPr>
                            <a:rPr lang="en-CA" sz="2800" i="1">
                              <a:latin typeface="Cambria Math" panose="02040503050406030204" pitchFamily="18" charset="0"/>
                              <a:cs typeface="Times New Roman" panose="02020603050405020304" pitchFamily="18" charset="0"/>
                            </a:rPr>
                          </m:ctrlPr>
                        </m:sSubPr>
                        <m:e>
                          <m:acc>
                            <m:accPr>
                              <m:chr m:val="̂"/>
                              <m:ctrlPr>
                                <a:rPr lang="en-CA" sz="2800" i="1">
                                  <a:latin typeface="Cambria Math" panose="02040503050406030204" pitchFamily="18" charset="0"/>
                                  <a:cs typeface="Times New Roman" panose="02020603050405020304" pitchFamily="18" charset="0"/>
                                </a:rPr>
                              </m:ctrlPr>
                            </m:accPr>
                            <m:e>
                              <m:r>
                                <m:rPr>
                                  <m:sty m:val="p"/>
                                </m:rPr>
                                <a:rPr lang="en-CA" sz="2800">
                                  <a:latin typeface="Cambria Math" panose="02040503050406030204" pitchFamily="18" charset="0"/>
                                  <a:cs typeface="Times New Roman" panose="02020603050405020304" pitchFamily="18" charset="0"/>
                                </a:rPr>
                                <m:t>L</m:t>
                              </m:r>
                            </m:e>
                          </m:acc>
                        </m:e>
                        <m:sub>
                          <m:r>
                            <a:rPr lang="en-CA" sz="2800" i="1">
                              <a:latin typeface="Cambria Math" panose="02040503050406030204" pitchFamily="18" charset="0"/>
                              <a:cs typeface="Times New Roman" panose="02020603050405020304" pitchFamily="18" charset="0"/>
                            </a:rPr>
                            <m:t>𝑖</m:t>
                          </m:r>
                        </m:sub>
                      </m:sSub>
                      <m:r>
                        <a:rPr lang="en-CA" sz="2800" i="1">
                          <a:latin typeface="Cambria Math" panose="02040503050406030204" pitchFamily="18" charset="0"/>
                          <a:ea typeface="Cambria Math" panose="02040503050406030204" pitchFamily="18" charset="0"/>
                          <a:cs typeface="Times New Roman" panose="02020603050405020304" pitchFamily="18" charset="0"/>
                        </a:rPr>
                        <m:t>≡</m:t>
                      </m:r>
                    </m:oMath>
                  </a14:m>
                  <a:r>
                    <a:rPr lang="en-CA" sz="2800" dirty="0">
                      <a:cs typeface="Times New Roman" panose="02020603050405020304" pitchFamily="18" charset="0"/>
                    </a:rPr>
                    <a:t> </a:t>
                  </a:r>
                  <a14:m>
                    <m:oMath xmlns:m="http://schemas.openxmlformats.org/officeDocument/2006/math">
                      <m:sSup>
                        <m:sSupPr>
                          <m:ctrlPr>
                            <a:rPr lang="en-CA" sz="2800" i="1">
                              <a:latin typeface="Cambria Math" panose="02040503050406030204" pitchFamily="18" charset="0"/>
                              <a:cs typeface="Times New Roman" panose="02020603050405020304" pitchFamily="18" charset="0"/>
                            </a:rPr>
                          </m:ctrlPr>
                        </m:sSupPr>
                        <m:e>
                          <m:r>
                            <a:rPr lang="en-CA" sz="2800" i="1">
                              <a:latin typeface="Cambria Math" panose="02040503050406030204" pitchFamily="18" charset="0"/>
                              <a:cs typeface="Times New Roman" panose="02020603050405020304" pitchFamily="18" charset="0"/>
                            </a:rPr>
                            <m:t>𝑖</m:t>
                          </m:r>
                        </m:e>
                        <m:sup>
                          <m:r>
                            <a:rPr lang="en-CA" sz="2800" i="1">
                              <a:latin typeface="Cambria Math" panose="02040503050406030204" pitchFamily="18" charset="0"/>
                              <a:cs typeface="Times New Roman" panose="02020603050405020304" pitchFamily="18" charset="0"/>
                            </a:rPr>
                            <m:t>𝑡h</m:t>
                          </m:r>
                        </m:sup>
                      </m:sSup>
                    </m:oMath>
                  </a14:m>
                  <a:r>
                    <a:rPr lang="en-CA" sz="2800" dirty="0">
                      <a:cs typeface="Times New Roman" panose="02020603050405020304" pitchFamily="18" charset="0"/>
                    </a:rPr>
                    <a:t> Decay Operator</a:t>
                  </a:r>
                </a:p>
                <a:p>
                  <a14:m>
                    <m:oMath xmlns:m="http://schemas.openxmlformats.org/officeDocument/2006/math">
                      <m:sSub>
                        <m:sSubPr>
                          <m:ctrlPr>
                            <a:rPr lang="el-GR" sz="2800" b="0" i="1" smtClean="0">
                              <a:latin typeface="Cambria Math" panose="02040503050406030204" pitchFamily="18" charset="0"/>
                              <a:cs typeface="Times New Roman" panose="02020603050405020304" pitchFamily="18" charset="0"/>
                            </a:rPr>
                          </m:ctrlPr>
                        </m:sSubPr>
                        <m:e>
                          <m:r>
                            <a:rPr lang="el-GR" sz="2800" b="0" i="1" smtClean="0">
                              <a:latin typeface="Cambria Math" panose="02040503050406030204" pitchFamily="18" charset="0"/>
                              <a:cs typeface="Times New Roman" panose="02020603050405020304" pitchFamily="18" charset="0"/>
                            </a:rPr>
                            <m:t>𝛾</m:t>
                          </m:r>
                        </m:e>
                        <m:sub>
                          <m:r>
                            <a:rPr lang="en-CA" sz="2800" b="0" i="1" smtClean="0">
                              <a:latin typeface="Cambria Math" panose="02040503050406030204" pitchFamily="18" charset="0"/>
                              <a:cs typeface="Times New Roman" panose="02020603050405020304" pitchFamily="18" charset="0"/>
                            </a:rPr>
                            <m:t>𝑖</m:t>
                          </m:r>
                        </m:sub>
                      </m:sSub>
                      <m:r>
                        <a:rPr lang="el-GR" sz="28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l-GR" sz="2800" dirty="0">
                      <a:cs typeface="Times New Roman" panose="02020603050405020304" pitchFamily="18" charset="0"/>
                    </a:rPr>
                    <a:t> </a:t>
                  </a:r>
                  <a:r>
                    <a:rPr lang="en-CA" sz="2800" dirty="0">
                      <a:cs typeface="Times New Roman" panose="02020603050405020304" pitchFamily="18" charset="0"/>
                    </a:rPr>
                    <a:t>Decay Rate of </a:t>
                  </a:r>
                  <a14:m>
                    <m:oMath xmlns:m="http://schemas.openxmlformats.org/officeDocument/2006/math">
                      <m:sSup>
                        <m:sSupPr>
                          <m:ctrlPr>
                            <a:rPr lang="en-CA" sz="2800" i="1" smtClean="0">
                              <a:latin typeface="Cambria Math" panose="02040503050406030204" pitchFamily="18" charset="0"/>
                              <a:cs typeface="Times New Roman" panose="02020603050405020304" pitchFamily="18" charset="0"/>
                            </a:rPr>
                          </m:ctrlPr>
                        </m:sSupPr>
                        <m:e>
                          <m:r>
                            <a:rPr lang="en-CA" sz="2800" b="0" i="1" smtClean="0">
                              <a:latin typeface="Cambria Math" panose="02040503050406030204" pitchFamily="18" charset="0"/>
                              <a:cs typeface="Times New Roman" panose="02020603050405020304" pitchFamily="18" charset="0"/>
                            </a:rPr>
                            <m:t>𝑖</m:t>
                          </m:r>
                        </m:e>
                        <m:sup>
                          <m:r>
                            <a:rPr lang="en-CA" sz="2800" b="0" i="1" smtClean="0">
                              <a:latin typeface="Cambria Math" panose="02040503050406030204" pitchFamily="18" charset="0"/>
                              <a:cs typeface="Times New Roman" panose="02020603050405020304" pitchFamily="18" charset="0"/>
                            </a:rPr>
                            <m:t>𝑡h</m:t>
                          </m:r>
                        </m:sup>
                      </m:sSup>
                    </m:oMath>
                  </a14:m>
                  <a:r>
                    <a:rPr lang="en-CA" sz="2800" dirty="0">
                      <a:cs typeface="Times New Roman" panose="02020603050405020304" pitchFamily="18" charset="0"/>
                    </a:rPr>
                    <a:t> Decay Operator</a:t>
                  </a:r>
                </a:p>
                <a:p>
                  <a14:m>
                    <m:oMath xmlns:m="http://schemas.openxmlformats.org/officeDocument/2006/math">
                      <m:r>
                        <a:rPr lang="en-CA" sz="2800" b="0" i="1" smtClean="0">
                          <a:latin typeface="Cambria Math" panose="02040503050406030204" pitchFamily="18" charset="0"/>
                          <a:cs typeface="Times New Roman" panose="02020603050405020304" pitchFamily="18" charset="0"/>
                        </a:rPr>
                        <m:t>𝐸</m:t>
                      </m:r>
                      <m:r>
                        <a:rPr lang="en-CA" sz="28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CA" sz="2800" dirty="0">
                      <a:cs typeface="Times New Roman" panose="02020603050405020304" pitchFamily="18" charset="0"/>
                    </a:rPr>
                    <a:t> Electromagnetic Envelope</a:t>
                  </a:r>
                </a:p>
                <a:p>
                  <a:endParaRPr lang="en-US" sz="2800" dirty="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EE08E22C-88A5-1D18-CF6F-07604030EE23}"/>
                    </a:ext>
                  </a:extLst>
                </p:cNvPr>
                <p:cNvSpPr txBox="1">
                  <a:spLocks noRot="1" noChangeAspect="1" noMove="1" noResize="1" noEditPoints="1" noAdjustHandles="1" noChangeArrowheads="1" noChangeShapeType="1" noTextEdit="1"/>
                </p:cNvSpPr>
                <p:nvPr/>
              </p:nvSpPr>
              <p:spPr>
                <a:xfrm>
                  <a:off x="32785943" y="21000492"/>
                  <a:ext cx="10223337" cy="4507068"/>
                </a:xfrm>
                <a:prstGeom prst="rect">
                  <a:avLst/>
                </a:prstGeom>
                <a:blipFill>
                  <a:blip r:embed="rId10"/>
                  <a:stretch>
                    <a:fillRect l="-372" t="-1404"/>
                  </a:stretch>
                </a:blipFill>
              </p:spPr>
              <p:txBody>
                <a:bodyPr/>
                <a:lstStyle/>
                <a:p>
                  <a:r>
                    <a:rPr lang="en-US">
                      <a:noFill/>
                    </a:rPr>
                    <a:t> </a:t>
                  </a:r>
                </a:p>
              </p:txBody>
            </p:sp>
          </mc:Fallback>
        </mc:AlternateContent>
      </p:grpSp>
      <p:pic>
        <p:nvPicPr>
          <p:cNvPr id="13" name="Picture 12" descr="A black background with white spots&#10;&#10;AI-generated content may be incorrect.">
            <a:extLst>
              <a:ext uri="{FF2B5EF4-FFF2-40B4-BE49-F238E27FC236}">
                <a16:creationId xmlns:a16="http://schemas.microsoft.com/office/drawing/2014/main" id="{CB91E128-554E-6913-5FF1-9402F106858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8288916" y="27136837"/>
            <a:ext cx="7311905" cy="1093369"/>
          </a:xfrm>
          <a:prstGeom prst="rect">
            <a:avLst/>
          </a:prstGeom>
        </p:spPr>
      </p:pic>
      <p:sp>
        <p:nvSpPr>
          <p:cNvPr id="26" name="TextBox 25">
            <a:extLst>
              <a:ext uri="{FF2B5EF4-FFF2-40B4-BE49-F238E27FC236}">
                <a16:creationId xmlns:a16="http://schemas.microsoft.com/office/drawing/2014/main" id="{F730869E-19F6-E3E7-42CF-BA96D2F90EC6}"/>
              </a:ext>
            </a:extLst>
          </p:cNvPr>
          <p:cNvSpPr txBox="1"/>
          <p:nvPr/>
        </p:nvSpPr>
        <p:spPr>
          <a:xfrm>
            <a:off x="33314440" y="8354688"/>
            <a:ext cx="9527839" cy="5262979"/>
          </a:xfrm>
          <a:prstGeom prst="rect">
            <a:avLst/>
          </a:prstGeom>
          <a:noFill/>
        </p:spPr>
        <p:txBody>
          <a:bodyPr wrap="square" rtlCol="0">
            <a:spAutoFit/>
          </a:bodyPr>
          <a:lstStyle/>
          <a:p>
            <a:pPr>
              <a:buSzPct val="150000"/>
            </a:pPr>
            <a:r>
              <a:rPr lang="en-US" sz="2800" dirty="0">
                <a:cs typeface="Times New Roman" panose="02020603050405020304" pitchFamily="18" charset="0"/>
              </a:rPr>
              <a:t>With a theoretical value of </a:t>
            </a:r>
            <a:r>
              <a:rPr lang="en-US" sz="2800" b="1" i="1" dirty="0">
                <a:cs typeface="Times New Roman" panose="02020603050405020304" pitchFamily="18" charset="0"/>
              </a:rPr>
              <a:t>Conversion Efficiency </a:t>
            </a:r>
            <a:r>
              <a:rPr lang="en-US" sz="2800" dirty="0">
                <a:cs typeface="Times New Roman" panose="02020603050405020304" pitchFamily="18" charset="0"/>
              </a:rPr>
              <a:t>and </a:t>
            </a:r>
            <a:r>
              <a:rPr lang="en-US" sz="2800" b="1" i="1" dirty="0">
                <a:cs typeface="Times New Roman" panose="02020603050405020304" pitchFamily="18" charset="0"/>
              </a:rPr>
              <a:t>Squeezing Amplitude </a:t>
            </a:r>
            <a:r>
              <a:rPr lang="en-US" sz="2800" dirty="0">
                <a:cs typeface="Times New Roman" panose="02020603050405020304" pitchFamily="18" charset="0"/>
              </a:rPr>
              <a:t>either</a:t>
            </a:r>
            <a:r>
              <a:rPr lang="en-US" sz="2800" b="1" i="1" dirty="0">
                <a:cs typeface="Times New Roman" panose="02020603050405020304" pitchFamily="18" charset="0"/>
              </a:rPr>
              <a:t> </a:t>
            </a:r>
            <a:r>
              <a:rPr lang="en-US" sz="2800" dirty="0">
                <a:cs typeface="Times New Roman" panose="02020603050405020304" pitchFamily="18" charset="0"/>
              </a:rPr>
              <a:t>experimental research can be justified or the relatively expensive alternative of using a super-cooled atomic system is supported.</a:t>
            </a:r>
          </a:p>
          <a:p>
            <a:pPr>
              <a:buSzPct val="150000"/>
            </a:pPr>
            <a:endParaRPr lang="en-US" sz="2800" dirty="0">
              <a:cs typeface="Times New Roman" panose="02020603050405020304" pitchFamily="18" charset="0"/>
            </a:endParaRPr>
          </a:p>
          <a:p>
            <a:pPr>
              <a:buSzPct val="150000"/>
            </a:pPr>
            <a:r>
              <a:rPr lang="en-US" sz="2800" dirty="0">
                <a:cs typeface="Times New Roman" panose="02020603050405020304" pitchFamily="18" charset="0"/>
              </a:rPr>
              <a:t>The </a:t>
            </a:r>
            <a:r>
              <a:rPr lang="en-US" sz="2800" b="1" i="1" dirty="0">
                <a:cs typeface="Times New Roman" panose="02020603050405020304" pitchFamily="18" charset="0"/>
              </a:rPr>
              <a:t>System Parameterizations </a:t>
            </a:r>
            <a:r>
              <a:rPr lang="en-US" sz="2800" dirty="0">
                <a:cs typeface="Times New Roman" panose="02020603050405020304" pitchFamily="18" charset="0"/>
              </a:rPr>
              <a:t>which yield optimal results can be used as a starting point for experiments.</a:t>
            </a:r>
          </a:p>
          <a:p>
            <a:pPr>
              <a:buSzPct val="150000"/>
            </a:pPr>
            <a:endParaRPr lang="en-US" sz="2800" dirty="0">
              <a:cs typeface="Times New Roman" panose="02020603050405020304" pitchFamily="18" charset="0"/>
            </a:endParaRPr>
          </a:p>
          <a:p>
            <a:pPr>
              <a:buSzPct val="150000"/>
            </a:pPr>
            <a:r>
              <a:rPr lang="en-US" sz="2800" dirty="0">
                <a:cs typeface="Times New Roman" panose="02020603050405020304" pitchFamily="18" charset="0"/>
              </a:rPr>
              <a:t>If hot atomic ensembles can be used to effectively transmit telecom signals, then connecting nodes in a quantum communication network would be fast, economically viable, and compatible with existing techniques.</a:t>
            </a:r>
            <a:endParaRPr lang="en-US" sz="2800" b="1" i="1" dirty="0">
              <a:cs typeface="Times New Roman" panose="02020603050405020304" pitchFamily="18" charset="0"/>
            </a:endParaRPr>
          </a:p>
        </p:txBody>
      </p:sp>
      <p:sp>
        <p:nvSpPr>
          <p:cNvPr id="27" name="Rectangle 26">
            <a:extLst>
              <a:ext uri="{FF2B5EF4-FFF2-40B4-BE49-F238E27FC236}">
                <a16:creationId xmlns:a16="http://schemas.microsoft.com/office/drawing/2014/main" id="{5A527874-9011-77BC-F239-0EA74ACE4059}"/>
              </a:ext>
            </a:extLst>
          </p:cNvPr>
          <p:cNvSpPr/>
          <p:nvPr/>
        </p:nvSpPr>
        <p:spPr>
          <a:xfrm>
            <a:off x="33314440" y="14042819"/>
            <a:ext cx="8646623" cy="4402644"/>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Get Setup Pic</a:t>
            </a:r>
          </a:p>
        </p:txBody>
      </p:sp>
      <p:grpSp>
        <p:nvGrpSpPr>
          <p:cNvPr id="32" name="Group 31">
            <a:extLst>
              <a:ext uri="{FF2B5EF4-FFF2-40B4-BE49-F238E27FC236}">
                <a16:creationId xmlns:a16="http://schemas.microsoft.com/office/drawing/2014/main" id="{82DA8066-C396-8101-21BB-35AE92EC88B8}"/>
              </a:ext>
            </a:extLst>
          </p:cNvPr>
          <p:cNvGrpSpPr/>
          <p:nvPr/>
        </p:nvGrpSpPr>
        <p:grpSpPr>
          <a:xfrm>
            <a:off x="21435532" y="10384425"/>
            <a:ext cx="8806847" cy="8128482"/>
            <a:chOff x="21401208" y="10272903"/>
            <a:chExt cx="8806847" cy="8128482"/>
          </a:xfrm>
        </p:grpSpPr>
        <p:sp>
          <p:nvSpPr>
            <p:cNvPr id="89" name="TextBox 88">
              <a:extLst>
                <a:ext uri="{FF2B5EF4-FFF2-40B4-BE49-F238E27FC236}">
                  <a16:creationId xmlns:a16="http://schemas.microsoft.com/office/drawing/2014/main" id="{A3E30A97-3FAE-7466-0853-0D17C710DF7F}"/>
                </a:ext>
              </a:extLst>
            </p:cNvPr>
            <p:cNvSpPr txBox="1"/>
            <p:nvPr/>
          </p:nvSpPr>
          <p:spPr>
            <a:xfrm>
              <a:off x="21401208" y="17447278"/>
              <a:ext cx="8806847" cy="954107"/>
            </a:xfrm>
            <a:prstGeom prst="rect">
              <a:avLst/>
            </a:prstGeom>
            <a:noFill/>
          </p:spPr>
          <p:txBody>
            <a:bodyPr wrap="square" rtlCol="0">
              <a:spAutoFit/>
            </a:bodyPr>
            <a:lstStyle/>
            <a:p>
              <a:r>
                <a:rPr lang="en-US" sz="2800" dirty="0">
                  <a:cs typeface="Times New Roman" panose="02020603050405020304" pitchFamily="18" charset="0"/>
                </a:rPr>
                <a:t>Fig. 3 – Vacuum Chamber Driven within a Resonant Cavity Driven by Lasers Tuned near Transition Frequencies.</a:t>
              </a:r>
            </a:p>
          </p:txBody>
        </p:sp>
        <p:pic>
          <p:nvPicPr>
            <p:cNvPr id="29" name="Picture 28" descr="A diagram of a device&#10;&#10;AI-generated content may be incorrect.">
              <a:extLst>
                <a:ext uri="{FF2B5EF4-FFF2-40B4-BE49-F238E27FC236}">
                  <a16:creationId xmlns:a16="http://schemas.microsoft.com/office/drawing/2014/main" id="{3F624712-6FEB-17B0-19C9-D16924A23E7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073334" y="10272903"/>
              <a:ext cx="7670877" cy="7070379"/>
            </a:xfrm>
            <a:prstGeom prst="rect">
              <a:avLst/>
            </a:prstGeom>
          </p:spPr>
        </p:pic>
      </p:grpSp>
      <p:grpSp>
        <p:nvGrpSpPr>
          <p:cNvPr id="41" name="Group 40">
            <a:extLst>
              <a:ext uri="{FF2B5EF4-FFF2-40B4-BE49-F238E27FC236}">
                <a16:creationId xmlns:a16="http://schemas.microsoft.com/office/drawing/2014/main" id="{2FBF149C-0349-5501-51DC-2C5B6E0AC9C4}"/>
              </a:ext>
            </a:extLst>
          </p:cNvPr>
          <p:cNvGrpSpPr/>
          <p:nvPr/>
        </p:nvGrpSpPr>
        <p:grpSpPr>
          <a:xfrm>
            <a:off x="17747705" y="29460288"/>
            <a:ext cx="8431885" cy="1143920"/>
            <a:chOff x="17407071" y="29692570"/>
            <a:chExt cx="8431885" cy="1143920"/>
          </a:xfrm>
        </p:grpSpPr>
        <p:pic>
          <p:nvPicPr>
            <p:cNvPr id="16" name="Picture 15" descr="A black background with white lines&#10;&#10;AI-generated content may be incorrect.">
              <a:extLst>
                <a:ext uri="{FF2B5EF4-FFF2-40B4-BE49-F238E27FC236}">
                  <a16:creationId xmlns:a16="http://schemas.microsoft.com/office/drawing/2014/main" id="{1B1E1FD0-057D-5302-7E70-28968AE93AB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7407071" y="29768816"/>
              <a:ext cx="3239523" cy="954106"/>
            </a:xfrm>
            <a:prstGeom prst="rect">
              <a:avLst/>
            </a:prstGeom>
          </p:spPr>
        </p:pic>
        <p:pic>
          <p:nvPicPr>
            <p:cNvPr id="40" name="Picture 39" descr="A black background with white lines&#10;&#10;AI-generated content may be incorrect.">
              <a:extLst>
                <a:ext uri="{FF2B5EF4-FFF2-40B4-BE49-F238E27FC236}">
                  <a16:creationId xmlns:a16="http://schemas.microsoft.com/office/drawing/2014/main" id="{0E1B20FD-77AA-32D8-05D2-E2270F99F2C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2361439" y="29692570"/>
              <a:ext cx="3477517" cy="1143920"/>
            </a:xfrm>
            <a:prstGeom prst="rect">
              <a:avLst/>
            </a:prstGeom>
          </p:spPr>
        </p:pic>
      </p:grpSp>
      <p:sp>
        <p:nvSpPr>
          <p:cNvPr id="2" name="Triangle 1">
            <a:extLst>
              <a:ext uri="{FF2B5EF4-FFF2-40B4-BE49-F238E27FC236}">
                <a16:creationId xmlns:a16="http://schemas.microsoft.com/office/drawing/2014/main" id="{78ED2317-5F0E-5DE6-E1ED-A0E6F7D3AEB4}"/>
              </a:ext>
            </a:extLst>
          </p:cNvPr>
          <p:cNvSpPr/>
          <p:nvPr/>
        </p:nvSpPr>
        <p:spPr>
          <a:xfrm rot="5400000">
            <a:off x="32549064" y="9088567"/>
            <a:ext cx="498393" cy="378200"/>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riangle 4">
            <a:extLst>
              <a:ext uri="{FF2B5EF4-FFF2-40B4-BE49-F238E27FC236}">
                <a16:creationId xmlns:a16="http://schemas.microsoft.com/office/drawing/2014/main" id="{2BE1F86C-958D-4891-930F-F1825EF07343}"/>
              </a:ext>
            </a:extLst>
          </p:cNvPr>
          <p:cNvSpPr/>
          <p:nvPr/>
        </p:nvSpPr>
        <p:spPr>
          <a:xfrm rot="5400000">
            <a:off x="32549064" y="10797077"/>
            <a:ext cx="498393" cy="378200"/>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06251F5F-A53F-929D-F032-79AFC555F1A4}"/>
              </a:ext>
            </a:extLst>
          </p:cNvPr>
          <p:cNvSpPr/>
          <p:nvPr/>
        </p:nvSpPr>
        <p:spPr>
          <a:xfrm rot="5400000">
            <a:off x="32567858" y="12505587"/>
            <a:ext cx="498393" cy="378200"/>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771615C-0725-84D5-8A0F-A7835E3D39C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4496391" y="23653593"/>
            <a:ext cx="13878281" cy="1691415"/>
          </a:xfrm>
          <a:prstGeom prst="rect">
            <a:avLst/>
          </a:prstGeom>
        </p:spPr>
      </p:pic>
      <p:pic>
        <p:nvPicPr>
          <p:cNvPr id="8" name="Picture 7">
            <a:extLst>
              <a:ext uri="{FF2B5EF4-FFF2-40B4-BE49-F238E27FC236}">
                <a16:creationId xmlns:a16="http://schemas.microsoft.com/office/drawing/2014/main" id="{5CE6687A-799A-B88C-A327-480B3CB7A28C}"/>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5962684" y="22318583"/>
            <a:ext cx="10945696" cy="1232060"/>
          </a:xfrm>
          <a:prstGeom prst="rect">
            <a:avLst/>
          </a:prstGeom>
        </p:spPr>
      </p:pic>
    </p:spTree>
    <p:extLst>
      <p:ext uri="{BB962C8B-B14F-4D97-AF65-F5344CB8AC3E}">
        <p14:creationId xmlns:p14="http://schemas.microsoft.com/office/powerpoint/2010/main" val="783191702"/>
      </p:ext>
    </p:extLst>
  </p:cSld>
  <p:clrMapOvr>
    <a:masterClrMapping/>
  </p:clrMapOvr>
</p:sld>
</file>

<file path=ppt/theme/theme1.xml><?xml version="1.0" encoding="utf-8"?>
<a:theme xmlns:a="http://schemas.openxmlformats.org/drawingml/2006/main" name="36x48-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5903</TotalTime>
  <Words>1127</Words>
  <Application>Microsoft Macintosh PowerPoint</Application>
  <PresentationFormat>Custom</PresentationFormat>
  <Paragraphs>78</Paragraphs>
  <Slides>1</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vt:i4>
      </vt:variant>
    </vt:vector>
  </HeadingPairs>
  <TitlesOfParts>
    <vt:vector size="9" baseType="lpstr">
      <vt:lpstr>Arial</vt:lpstr>
      <vt:lpstr>Arial Black</vt:lpstr>
      <vt:lpstr>Calibri</vt:lpstr>
      <vt:lpstr>Cambria Math</vt:lpstr>
      <vt:lpstr>Times New Roman</vt:lpstr>
      <vt:lpstr>Trebuchet MS</vt:lpstr>
      <vt:lpstr>36x48-Template</vt:lpstr>
      <vt:lpstr>Without guides</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Aaron Dayton</cp:lastModifiedBy>
  <cp:revision>438</cp:revision>
  <dcterms:created xsi:type="dcterms:W3CDTF">2012-02-03T19:11:35Z</dcterms:created>
  <dcterms:modified xsi:type="dcterms:W3CDTF">2026-02-23T20:40:39Z</dcterms:modified>
  <cp:category>Research poster templates</cp:category>
</cp:coreProperties>
</file>