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64" r:id="rId3"/>
    <p:sldId id="263" r:id="rId4"/>
    <p:sldId id="268" r:id="rId5"/>
    <p:sldId id="257" r:id="rId6"/>
    <p:sldId id="262" r:id="rId7"/>
    <p:sldId id="269" r:id="rId8"/>
    <p:sldId id="270" r:id="rId9"/>
    <p:sldId id="260" r:id="rId10"/>
    <p:sldId id="261" r:id="rId11"/>
    <p:sldId id="271" r:id="rId12"/>
    <p:sldId id="267" r:id="rId13"/>
    <p:sldId id="272" r:id="rId14"/>
    <p:sldId id="273" r:id="rId15"/>
    <p:sldId id="276" r:id="rId16"/>
    <p:sldId id="277" r:id="rId17"/>
    <p:sldId id="274" r:id="rId18"/>
    <p:sldId id="278" r:id="rId19"/>
    <p:sldId id="28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94"/>
  </p:normalViewPr>
  <p:slideViewPr>
    <p:cSldViewPr snapToGrid="0">
      <p:cViewPr>
        <p:scale>
          <a:sx n="87" d="100"/>
          <a:sy n="87" d="100"/>
        </p:scale>
        <p:origin x="146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A7449-038D-394D-AFF0-519DF4AA8291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BA536-5052-1B4F-A9B2-703B4B78C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48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3A685-F7C5-4D7C-7461-0DC848B81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0282F-076C-3A4D-B24B-DE96C7EBB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8625C-E2EB-013F-D816-4C3F2BEAA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28037-E0D9-D7EF-61B6-E00CF35FF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BA536-5052-1B4F-A9B2-703B4B78C4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11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BA536-5052-1B4F-A9B2-703B4B78C4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42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DF3A9-E3FE-A87A-3035-4B79167A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960CD-2E46-8E58-86EC-DB7EE26C9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9B95F-9A55-64E7-BC8C-62561F66B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CE840-CC0C-477D-3CF8-021BAC4EC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BA536-5052-1B4F-A9B2-703B4B78C4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0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E9EC-106A-569D-7709-B4FDDB7F45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Simulation of Squeezed Light Generation in an Optical Resonator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1801E-B987-3391-A3E6-57A92657C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Aaron Dayton</a:t>
            </a:r>
          </a:p>
          <a:p>
            <a:r>
              <a:rPr lang="en-US" dirty="0"/>
              <a:t>Supervisor: Andrew MacRae</a:t>
            </a:r>
          </a:p>
          <a:p>
            <a:r>
              <a:rPr lang="en-US" dirty="0"/>
              <a:t>University of Victoria</a:t>
            </a:r>
          </a:p>
        </p:txBody>
      </p:sp>
    </p:spTree>
    <p:extLst>
      <p:ext uri="{BB962C8B-B14F-4D97-AF65-F5344CB8AC3E}">
        <p14:creationId xmlns:p14="http://schemas.microsoft.com/office/powerpoint/2010/main" val="362780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8CDD-7CA2-0A6C-8E07-F93E8F63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the world&#10;&#10;AI-generated content may be incorrect.">
            <a:extLst>
              <a:ext uri="{FF2B5EF4-FFF2-40B4-BE49-F238E27FC236}">
                <a16:creationId xmlns:a16="http://schemas.microsoft.com/office/drawing/2014/main" id="{5F2F5F36-1A03-9C3B-F58A-D7771531A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2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the world&#10;&#10;AI-generated content may be incorrect.">
            <a:extLst>
              <a:ext uri="{FF2B5EF4-FFF2-40B4-BE49-F238E27FC236}">
                <a16:creationId xmlns:a16="http://schemas.microsoft.com/office/drawing/2014/main" id="{0D8FC2E5-32C4-B4C1-AFB5-9B8ECA573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22C6DF-5244-189C-75BA-C327BFB9C322}"/>
              </a:ext>
            </a:extLst>
          </p:cNvPr>
          <p:cNvSpPr/>
          <p:nvPr/>
        </p:nvSpPr>
        <p:spPr>
          <a:xfrm>
            <a:off x="2984938" y="2456793"/>
            <a:ext cx="5990896" cy="1944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1D319-5042-141C-489A-4999532A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887" y="2551385"/>
            <a:ext cx="5754998" cy="175522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We Want to use Existing Telecom Infrastructure to Build a Quantum Internet</a:t>
            </a:r>
          </a:p>
        </p:txBody>
      </p:sp>
    </p:spTree>
    <p:extLst>
      <p:ext uri="{BB962C8B-B14F-4D97-AF65-F5344CB8AC3E}">
        <p14:creationId xmlns:p14="http://schemas.microsoft.com/office/powerpoint/2010/main" val="927971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D9324-8EA8-1C3C-9DBD-79425AE9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the world&#10;&#10;AI-generated content may be incorrect.">
            <a:extLst>
              <a:ext uri="{FF2B5EF4-FFF2-40B4-BE49-F238E27FC236}">
                <a16:creationId xmlns:a16="http://schemas.microsoft.com/office/drawing/2014/main" id="{F4C21D6E-7C62-2893-377A-51D85EA0A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40E2A7-CC02-5EF4-86DA-78A8D78325D7}"/>
              </a:ext>
            </a:extLst>
          </p:cNvPr>
          <p:cNvSpPr/>
          <p:nvPr/>
        </p:nvSpPr>
        <p:spPr>
          <a:xfrm>
            <a:off x="2984938" y="2456793"/>
            <a:ext cx="5990896" cy="1944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98940-2390-075D-FAC0-15651921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887" y="2551385"/>
            <a:ext cx="5754998" cy="1755229"/>
          </a:xfrm>
        </p:spPr>
        <p:txBody>
          <a:bodyPr>
            <a:noAutofit/>
          </a:bodyPr>
          <a:lstStyle/>
          <a:p>
            <a:r>
              <a:rPr lang="en-US" b="1" u="sng" dirty="0">
                <a:solidFill>
                  <a:schemeClr val="tx1"/>
                </a:solidFill>
              </a:rPr>
              <a:t>Problem: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Telecom Bands Operate at Specific Wavelengths</a:t>
            </a:r>
          </a:p>
        </p:txBody>
      </p:sp>
    </p:spTree>
    <p:extLst>
      <p:ext uri="{BB962C8B-B14F-4D97-AF65-F5344CB8AC3E}">
        <p14:creationId xmlns:p14="http://schemas.microsoft.com/office/powerpoint/2010/main" val="1691641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22D3-F67B-825E-2AEF-6560B986C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Converter Cartoon Setup</a:t>
            </a:r>
          </a:p>
        </p:txBody>
      </p:sp>
      <p:pic>
        <p:nvPicPr>
          <p:cNvPr id="5" name="Content Placeholder 4" descr="A diagram of a device&#10;&#10;AI-generated content may be incorrect.">
            <a:extLst>
              <a:ext uri="{FF2B5EF4-FFF2-40B4-BE49-F238E27FC236}">
                <a16:creationId xmlns:a16="http://schemas.microsoft.com/office/drawing/2014/main" id="{94BF36BB-4B4D-B015-EC49-D92F561FC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998" y="1697809"/>
            <a:ext cx="5248540" cy="483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03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3AE1B-CCBF-19E2-2CF9-8CD3C11C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Wave Mixing</a:t>
            </a:r>
          </a:p>
        </p:txBody>
      </p:sp>
      <p:pic>
        <p:nvPicPr>
          <p:cNvPr id="5" name="Content Placeholder 4" descr="A white square with colorful arrows pointing to the center&#10;&#10;AI-generated content may be incorrect.">
            <a:extLst>
              <a:ext uri="{FF2B5EF4-FFF2-40B4-BE49-F238E27FC236}">
                <a16:creationId xmlns:a16="http://schemas.microsoft.com/office/drawing/2014/main" id="{597A86B7-288A-E489-DA79-38BD7BFB4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6699" y="2055645"/>
            <a:ext cx="5225871" cy="1796393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2BC9E44-F6FC-2724-E155-6C4A9BA2A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91" y="1576549"/>
            <a:ext cx="3434051" cy="275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EFA1-A920-00D1-950B-9105777F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864B-DA99-7BFD-FB45-1B8BBF27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Wave Mixing</a:t>
            </a:r>
          </a:p>
        </p:txBody>
      </p:sp>
      <p:pic>
        <p:nvPicPr>
          <p:cNvPr id="5" name="Content Placeholder 4" descr="A white square with colorful arrows pointing to the center&#10;&#10;AI-generated content may be incorrect.">
            <a:extLst>
              <a:ext uri="{FF2B5EF4-FFF2-40B4-BE49-F238E27FC236}">
                <a16:creationId xmlns:a16="http://schemas.microsoft.com/office/drawing/2014/main" id="{286D69B2-FCA8-547C-DA04-5D0AA6477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6699" y="2055645"/>
            <a:ext cx="5225871" cy="1796393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A83E6AC-25DC-DC70-5CD2-CB83F6AD2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91" y="1576549"/>
            <a:ext cx="3434051" cy="275458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1F1438-47A8-A42D-8E23-99AEFAB168C8}"/>
              </a:ext>
            </a:extLst>
          </p:cNvPr>
          <p:cNvSpPr txBox="1">
            <a:spLocks/>
          </p:cNvSpPr>
          <p:nvPr/>
        </p:nvSpPr>
        <p:spPr>
          <a:xfrm>
            <a:off x="677334" y="4631004"/>
            <a:ext cx="8596668" cy="2409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Generate light in the telecom C-band (1530 nm to 1565 nm)</a:t>
            </a:r>
          </a:p>
        </p:txBody>
      </p:sp>
    </p:spTree>
    <p:extLst>
      <p:ext uri="{BB962C8B-B14F-4D97-AF65-F5344CB8AC3E}">
        <p14:creationId xmlns:p14="http://schemas.microsoft.com/office/powerpoint/2010/main" val="2563023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B8CCC-87EE-3882-D5DD-B435C110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AC99B-098B-F5DC-AC7E-B832D1310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Wave Mixing Generates Squeezed Light</a:t>
            </a:r>
          </a:p>
        </p:txBody>
      </p:sp>
      <p:pic>
        <p:nvPicPr>
          <p:cNvPr id="9" name="Picture 8" descr="A black background with white circles&#10;&#10;AI-generated content may be incorrect.">
            <a:extLst>
              <a:ext uri="{FF2B5EF4-FFF2-40B4-BE49-F238E27FC236}">
                <a16:creationId xmlns:a16="http://schemas.microsoft.com/office/drawing/2014/main" id="{100B43CD-EA3B-320B-AF7B-3DFB44F03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621" y="2165202"/>
            <a:ext cx="6988093" cy="3158460"/>
          </a:xfrm>
          <a:prstGeom prst="rect">
            <a:avLst/>
          </a:prstGeom>
        </p:spPr>
      </p:pic>
      <p:pic>
        <p:nvPicPr>
          <p:cNvPr id="11" name="Picture 10" descr="A group of symbols on a white background&#10;&#10;AI-generated content may be incorrect.">
            <a:extLst>
              <a:ext uri="{FF2B5EF4-FFF2-40B4-BE49-F238E27FC236}">
                <a16:creationId xmlns:a16="http://schemas.microsoft.com/office/drawing/2014/main" id="{5BF3357B-BC63-C2BE-8EA2-B9C82DE23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566" y="5323662"/>
            <a:ext cx="1946201" cy="115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9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6AB66-904C-617A-3AE5-C5ABAE4C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45CB-7E64-56F8-B823-437EE693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Electromagnetically Induced Transparency</a:t>
            </a:r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2A98309-6808-AC56-2893-40830B63E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350" y="2132943"/>
            <a:ext cx="3954635" cy="12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29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4D331-6483-617C-44C2-01D78197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98623-B1C3-9E12-A06A-B8C78C3D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Electromagnetically Induced Transparency</a:t>
            </a:r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868BA7E-1B0C-6C7E-B545-6AAA9E368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350" y="2132943"/>
            <a:ext cx="3954635" cy="12960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81AC86-8ADB-6A6F-06EC-3D98FD74ECA4}"/>
              </a:ext>
            </a:extLst>
          </p:cNvPr>
          <p:cNvSpPr txBox="1"/>
          <p:nvPr/>
        </p:nvSpPr>
        <p:spPr>
          <a:xfrm>
            <a:off x="2028497" y="38888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FF55E5-DE5D-BE6B-643E-3AA339F9B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631543"/>
            <a:ext cx="8596668" cy="2409819"/>
          </a:xfrm>
        </p:spPr>
        <p:txBody>
          <a:bodyPr/>
          <a:lstStyle/>
          <a:p>
            <a:r>
              <a:rPr lang="en-US" dirty="0"/>
              <a:t>Use EIT to minimize decay within medium</a:t>
            </a:r>
          </a:p>
        </p:txBody>
      </p:sp>
    </p:spTree>
    <p:extLst>
      <p:ext uri="{BB962C8B-B14F-4D97-AF65-F5344CB8AC3E}">
        <p14:creationId xmlns:p14="http://schemas.microsoft.com/office/powerpoint/2010/main" val="746370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20C59-D023-A3FC-933A-70A434AB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7670E-B9ED-9D0F-16FD-9699AD55E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Electromagnetically Induced Transparency</a:t>
            </a:r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5B8ADFB-575C-1185-B66A-E50A4AB1E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350" y="2132943"/>
            <a:ext cx="3954635" cy="12960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36D98B-F802-80EC-B1B3-A982E11C7973}"/>
              </a:ext>
            </a:extLst>
          </p:cNvPr>
          <p:cNvSpPr txBox="1"/>
          <p:nvPr/>
        </p:nvSpPr>
        <p:spPr>
          <a:xfrm>
            <a:off x="2028497" y="38888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460584F-1A37-FE0A-D954-24F43C47C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631543"/>
            <a:ext cx="8596668" cy="2409819"/>
          </a:xfrm>
        </p:spPr>
        <p:txBody>
          <a:bodyPr/>
          <a:lstStyle/>
          <a:p>
            <a:r>
              <a:rPr lang="en-US" dirty="0"/>
              <a:t>Use EIT to minimize decay within medium</a:t>
            </a:r>
          </a:p>
          <a:p>
            <a:r>
              <a:rPr lang="en-US" dirty="0"/>
              <a:t>EIT for the output transmission beam is desirable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357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A68FE-B0F4-6ABF-E8D3-29121229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C024-4511-BBCA-3327-D6C2A7D5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Problem:</a:t>
            </a:r>
            <a:br>
              <a:rPr lang="en-US" dirty="0"/>
            </a:br>
            <a:r>
              <a:rPr lang="en-US" dirty="0"/>
              <a:t>Things move (Doppler Broadening)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E813EF-7B12-D39B-2807-D7B66D4CF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1281" y="2393949"/>
            <a:ext cx="4064000" cy="2984500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E6F821A0-48DC-291A-D705-AA6D9CACC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76" y="2587270"/>
            <a:ext cx="3557068" cy="259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97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9493-177F-A263-301B-F9AC2BB8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5B6FF-546F-057F-0F0F-1DA94E21D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Solve for steady state</a:t>
            </a:r>
          </a:p>
        </p:txBody>
      </p:sp>
      <p:pic>
        <p:nvPicPr>
          <p:cNvPr id="9" name="Picture 8" descr="A close up of a text&#10;&#10;AI-generated content may be incorrect.">
            <a:extLst>
              <a:ext uri="{FF2B5EF4-FFF2-40B4-BE49-F238E27FC236}">
                <a16:creationId xmlns:a16="http://schemas.microsoft.com/office/drawing/2014/main" id="{3854BE94-400C-22D0-73D6-4E9A7A564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868" y="2730500"/>
            <a:ext cx="51816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95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7A0C1-EB0E-FE41-5A13-F296A0EBE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E3254-7E3C-1974-6B62-E9D38C4F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EEB8F-08D9-EEE2-8C5F-76ACD3A98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Solve for steady state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2) Average over velocity distribution</a:t>
            </a:r>
          </a:p>
        </p:txBody>
      </p:sp>
      <p:pic>
        <p:nvPicPr>
          <p:cNvPr id="8" name="Picture 7" descr="A close up of a text&#10;&#10;AI-generated content may be incorrect.">
            <a:extLst>
              <a:ext uri="{FF2B5EF4-FFF2-40B4-BE49-F238E27FC236}">
                <a16:creationId xmlns:a16="http://schemas.microsoft.com/office/drawing/2014/main" id="{D6BB266C-CB14-4415-68C7-0A2A9F441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868" y="2730500"/>
            <a:ext cx="5181600" cy="698500"/>
          </a:xfrm>
          <a:prstGeom prst="rect">
            <a:avLst/>
          </a:prstGeom>
        </p:spPr>
      </p:pic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70A42D7-745D-8DCB-3350-5347CD661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118" y="4207797"/>
            <a:ext cx="19431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26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369C-9492-2B63-D047-3E9E514A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Problem:</a:t>
            </a:r>
            <a:br>
              <a:rPr lang="en-US" dirty="0"/>
            </a:br>
            <a:r>
              <a:rPr lang="en-US" dirty="0"/>
              <a:t>Things Change (Maxwell-Bloch)</a:t>
            </a:r>
          </a:p>
        </p:txBody>
      </p:sp>
      <p:pic>
        <p:nvPicPr>
          <p:cNvPr id="5" name="Content Placeholder 4" descr="A black and white image of a white object&#10;&#10;AI-generated content may be incorrect.">
            <a:extLst>
              <a:ext uri="{FF2B5EF4-FFF2-40B4-BE49-F238E27FC236}">
                <a16:creationId xmlns:a16="http://schemas.microsoft.com/office/drawing/2014/main" id="{A96F2F59-2AE8-BC0B-ECD6-5DFCEAB09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029" y="2577260"/>
            <a:ext cx="5499278" cy="1703480"/>
          </a:xfrm>
          <a:prstGeom prst="rect">
            <a:avLst/>
          </a:prstGeom>
        </p:spPr>
      </p:pic>
      <p:pic>
        <p:nvPicPr>
          <p:cNvPr id="7" name="Picture 6" descr="A mathematical equation with a number of letters&#10;&#10;AI-generated content may be incorrect.">
            <a:extLst>
              <a:ext uri="{FF2B5EF4-FFF2-40B4-BE49-F238E27FC236}">
                <a16:creationId xmlns:a16="http://schemas.microsoft.com/office/drawing/2014/main" id="{2498727F-FEA1-F796-FA3C-2F1DF052C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268" y="4604784"/>
            <a:ext cx="2590800" cy="838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435856B1-6579-4C47-E1D7-15F999E0EA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51348" y="5628362"/>
                <a:ext cx="2448639" cy="838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dirty="0"/>
                  <a:t> = </a:t>
                </a:r>
                <a:r>
                  <a:rPr lang="en-CA" dirty="0"/>
                  <a:t>Electric Envelope</a:t>
                </a:r>
                <a:endParaRPr lang="el-G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435856B1-6579-4C47-E1D7-15F999E0E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348" y="5628362"/>
                <a:ext cx="2448639" cy="838200"/>
              </a:xfrm>
              <a:prstGeom prst="rect">
                <a:avLst/>
              </a:prstGeom>
              <a:blipFill>
                <a:blip r:embed="rId4"/>
                <a:stretch>
                  <a:fillRect t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6279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EAABD-6278-9D37-916E-43AB64EA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D7AA-2CAA-A1D4-087E-0DAF36EF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666F-DF92-F147-F3A8-3DF392E26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50154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1) Solve for steady state</a:t>
            </a:r>
            <a:r>
              <a:rPr lang="el-GR" dirty="0"/>
              <a:t> </a:t>
            </a:r>
            <a:r>
              <a:rPr lang="en-CA" dirty="0"/>
              <a:t>at one position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2) Average over velocity distribution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3) Find the change in electric field strength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4) Repeat</a:t>
            </a:r>
          </a:p>
        </p:txBody>
      </p:sp>
      <p:pic>
        <p:nvPicPr>
          <p:cNvPr id="8" name="Picture 7" descr="A close up of a text&#10;&#10;AI-generated content may be incorrect.">
            <a:extLst>
              <a:ext uri="{FF2B5EF4-FFF2-40B4-BE49-F238E27FC236}">
                <a16:creationId xmlns:a16="http://schemas.microsoft.com/office/drawing/2014/main" id="{1BA117C9-EBC6-D1DE-B078-71AA41C11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868" y="2038759"/>
            <a:ext cx="5181600" cy="698500"/>
          </a:xfrm>
          <a:prstGeom prst="rect">
            <a:avLst/>
          </a:prstGeom>
        </p:spPr>
      </p:pic>
      <p:pic>
        <p:nvPicPr>
          <p:cNvPr id="4" name="Picture 3" descr="A mathematical equation with a number of letters&#10;&#10;AI-generated content may be incorrect.">
            <a:extLst>
              <a:ext uri="{FF2B5EF4-FFF2-40B4-BE49-F238E27FC236}">
                <a16:creationId xmlns:a16="http://schemas.microsoft.com/office/drawing/2014/main" id="{E18A6039-38E0-47B6-EB99-EA5F72985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287" y="4941529"/>
            <a:ext cx="2590800" cy="838200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0667351-C9CF-61AA-EB7B-751D4E4F3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118" y="3544119"/>
            <a:ext cx="19431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09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3AA1-10DB-BE23-DFE5-C71965A3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C522C5-60E7-7F3A-0B05-A4D1ADB231AB}"/>
              </a:ext>
            </a:extLst>
          </p:cNvPr>
          <p:cNvSpPr txBox="1">
            <a:spLocks/>
          </p:cNvSpPr>
          <p:nvPr/>
        </p:nvSpPr>
        <p:spPr>
          <a:xfrm>
            <a:off x="677334" y="1488613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System Hamiltonian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B59BD7-24F4-191F-29DE-D6101C74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Picture 4" descr="A black and white image of a mathematical equation&#10;&#10;AI-generated content may be incorrect.">
            <a:extLst>
              <a:ext uri="{FF2B5EF4-FFF2-40B4-BE49-F238E27FC236}">
                <a16:creationId xmlns:a16="http://schemas.microsoft.com/office/drawing/2014/main" id="{86F4B846-59D7-9D6B-8A55-406BE8383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205478"/>
            <a:ext cx="8822951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34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37C0D-2821-D8CF-3989-75D46232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4CD059D-7D93-CB67-CE77-71038A4D415A}"/>
              </a:ext>
            </a:extLst>
          </p:cNvPr>
          <p:cNvSpPr txBox="1">
            <a:spLocks/>
          </p:cNvSpPr>
          <p:nvPr/>
        </p:nvSpPr>
        <p:spPr>
          <a:xfrm>
            <a:off x="677334" y="1488613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System Hamiltonian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Maxwell-Bloch Equations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B2D27-48A5-D6BC-3763-553D62CE5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Picture 4" descr="A black and white image of a mathematical equation&#10;&#10;AI-generated content may be incorrect.">
            <a:extLst>
              <a:ext uri="{FF2B5EF4-FFF2-40B4-BE49-F238E27FC236}">
                <a16:creationId xmlns:a16="http://schemas.microsoft.com/office/drawing/2014/main" id="{0C78582D-BA99-D01A-23E8-A69913FDE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205478"/>
            <a:ext cx="8822951" cy="1320800"/>
          </a:xfrm>
          <a:prstGeom prst="rect">
            <a:avLst/>
          </a:prstGeom>
        </p:spPr>
      </p:pic>
      <p:pic>
        <p:nvPicPr>
          <p:cNvPr id="11" name="Picture 10" descr="A close-up of math symbols&#10;&#10;AI-generated content may be incorrect.">
            <a:extLst>
              <a:ext uri="{FF2B5EF4-FFF2-40B4-BE49-F238E27FC236}">
                <a16:creationId xmlns:a16="http://schemas.microsoft.com/office/drawing/2014/main" id="{81033817-4FE9-B08E-04AD-C3DE1C604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840" y="4447832"/>
            <a:ext cx="3613937" cy="184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63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A070E-7841-33F5-FB73-BE560ABD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D6790-1A45-E471-BC8B-506D435CE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Developed Computational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5DBBE-7DE1-5927-1BBD-8B9EC2034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50154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1) Solve for steady state</a:t>
            </a:r>
            <a:r>
              <a:rPr lang="el-GR" dirty="0"/>
              <a:t> </a:t>
            </a:r>
            <a:r>
              <a:rPr lang="en-CA" dirty="0"/>
              <a:t>at one position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2) Average over velocity distribution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3) Find the change in electric field strength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4) Repeat</a:t>
            </a:r>
          </a:p>
        </p:txBody>
      </p:sp>
      <p:pic>
        <p:nvPicPr>
          <p:cNvPr id="8" name="Picture 7" descr="A close up of a text&#10;&#10;AI-generated content may be incorrect.">
            <a:extLst>
              <a:ext uri="{FF2B5EF4-FFF2-40B4-BE49-F238E27FC236}">
                <a16:creationId xmlns:a16="http://schemas.microsoft.com/office/drawing/2014/main" id="{8B1B431B-D0FA-8B4C-914C-AD26FAAC9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868" y="2020656"/>
            <a:ext cx="5181600" cy="698500"/>
          </a:xfrm>
          <a:prstGeom prst="rect">
            <a:avLst/>
          </a:prstGeom>
        </p:spPr>
      </p:pic>
      <p:pic>
        <p:nvPicPr>
          <p:cNvPr id="4" name="Picture 3" descr="A mathematical equation with a number of letters&#10;&#10;AI-generated content may be incorrect.">
            <a:extLst>
              <a:ext uri="{FF2B5EF4-FFF2-40B4-BE49-F238E27FC236}">
                <a16:creationId xmlns:a16="http://schemas.microsoft.com/office/drawing/2014/main" id="{4FB7C980-21D9-9149-915A-F1F7A6BDC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538" y="5038404"/>
            <a:ext cx="2590800" cy="838200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6A18992-03E8-6FA1-2729-C2BB87B2B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118" y="3544119"/>
            <a:ext cx="19431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71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ECFAE-5256-29D2-3061-E6289F56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6A051-7F00-9930-A8D1-34818A622F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6DBD0-6CA8-B2E7-B0B3-8C3722ABFA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Aaron Dayton</a:t>
            </a:r>
          </a:p>
          <a:p>
            <a:r>
              <a:rPr lang="en-US" dirty="0"/>
              <a:t>Supervisor: Andrew MacRae</a:t>
            </a:r>
          </a:p>
          <a:p>
            <a:r>
              <a:rPr lang="en-US" dirty="0"/>
              <a:t>University of Victoria</a:t>
            </a:r>
          </a:p>
        </p:txBody>
      </p:sp>
    </p:spTree>
    <p:extLst>
      <p:ext uri="{BB962C8B-B14F-4D97-AF65-F5344CB8AC3E}">
        <p14:creationId xmlns:p14="http://schemas.microsoft.com/office/powerpoint/2010/main" val="97583466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</TotalTime>
  <Words>227</Words>
  <Application>Microsoft Macintosh PowerPoint</Application>
  <PresentationFormat>Widescreen</PresentationFormat>
  <Paragraphs>77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Cambria Math</vt:lpstr>
      <vt:lpstr>Trebuchet MS</vt:lpstr>
      <vt:lpstr>Wingdings 3</vt:lpstr>
      <vt:lpstr>Facet</vt:lpstr>
      <vt:lpstr>Simulation of Squeezed Light Generation in an Optical Resonator</vt:lpstr>
      <vt:lpstr>PowerPoint Presentation</vt:lpstr>
      <vt:lpstr>We Want to use Existing Telecom Infrastructure to Build a Quantum Internet</vt:lpstr>
      <vt:lpstr>Problem: Telecom Bands Operate at Specific Wavelengths</vt:lpstr>
      <vt:lpstr>Frequency Converter Cartoon Setup</vt:lpstr>
      <vt:lpstr>Four Wave Mixing</vt:lpstr>
      <vt:lpstr>Four Wave Mixing</vt:lpstr>
      <vt:lpstr>Four Wave Mixing Generates Squeezed Light</vt:lpstr>
      <vt:lpstr>Electromagnetically Induced Transparency</vt:lpstr>
      <vt:lpstr>Electromagnetically Induced Transparency</vt:lpstr>
      <vt:lpstr>Electromagnetically Induced Transparency</vt:lpstr>
      <vt:lpstr>Problem: Things move (Doppler Broadening)</vt:lpstr>
      <vt:lpstr>Solution Strategy</vt:lpstr>
      <vt:lpstr>Solution Strategy</vt:lpstr>
      <vt:lpstr>Another Problem: Things Change (Maxwell-Bloch)</vt:lpstr>
      <vt:lpstr>Solution Strategy</vt:lpstr>
      <vt:lpstr>Results</vt:lpstr>
      <vt:lpstr>Results</vt:lpstr>
      <vt:lpstr>Developed Computational Tools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Dayton</dc:creator>
  <cp:lastModifiedBy>Aaron Dayton</cp:lastModifiedBy>
  <cp:revision>3</cp:revision>
  <dcterms:created xsi:type="dcterms:W3CDTF">2026-04-02T16:42:19Z</dcterms:created>
  <dcterms:modified xsi:type="dcterms:W3CDTF">2026-04-02T17:40:17Z</dcterms:modified>
</cp:coreProperties>
</file>